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88" r:id="rId5"/>
    <p:sldId id="289" r:id="rId6"/>
    <p:sldId id="290" r:id="rId7"/>
    <p:sldId id="259" r:id="rId8"/>
    <p:sldId id="291" r:id="rId9"/>
    <p:sldId id="261" r:id="rId10"/>
    <p:sldId id="292" r:id="rId11"/>
    <p:sldId id="263" r:id="rId12"/>
    <p:sldId id="293" r:id="rId13"/>
    <p:sldId id="265" r:id="rId14"/>
    <p:sldId id="294" r:id="rId15"/>
    <p:sldId id="295" r:id="rId16"/>
    <p:sldId id="270" r:id="rId17"/>
    <p:sldId id="271" r:id="rId18"/>
    <p:sldId id="296" r:id="rId19"/>
    <p:sldId id="297" r:id="rId20"/>
    <p:sldId id="298" r:id="rId21"/>
    <p:sldId id="274" r:id="rId22"/>
    <p:sldId id="299" r:id="rId23"/>
    <p:sldId id="276" r:id="rId24"/>
    <p:sldId id="300" r:id="rId25"/>
    <p:sldId id="278" r:id="rId26"/>
    <p:sldId id="301" r:id="rId27"/>
    <p:sldId id="280" r:id="rId28"/>
    <p:sldId id="302" r:id="rId29"/>
    <p:sldId id="282" r:id="rId30"/>
    <p:sldId id="284" r:id="rId31"/>
    <p:sldId id="285" r:id="rId32"/>
    <p:sldId id="286" r:id="rId33"/>
    <p:sldId id="303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606A"/>
    <a:srgbClr val="242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2A3FC-4956-4791-A8AD-E44D89E5832C}" v="262" dt="2026-07-31T06:08:51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阿部　晃大" userId="795d8690-f1c8-4630-84c4-9373c78bb598" providerId="ADAL" clId="{09EEBB30-A4F3-416D-B43E-EE6C5C7603F9}"/>
    <pc:docChg chg="undo custSel addSld delSld modSld sldOrd">
      <pc:chgData name="阿部　晃大" userId="795d8690-f1c8-4630-84c4-9373c78bb598" providerId="ADAL" clId="{09EEBB30-A4F3-416D-B43E-EE6C5C7603F9}" dt="2026-07-17T05:00:15.768" v="185" actId="20577"/>
      <pc:docMkLst>
        <pc:docMk/>
      </pc:docMkLst>
      <pc:sldChg chg="del">
        <pc:chgData name="阿部　晃大" userId="795d8690-f1c8-4630-84c4-9373c78bb598" providerId="ADAL" clId="{09EEBB30-A4F3-416D-B43E-EE6C5C7603F9}" dt="2026-07-16T07:35:44.946" v="6" actId="47"/>
        <pc:sldMkLst>
          <pc:docMk/>
          <pc:sldMk cId="0" sldId="256"/>
        </pc:sldMkLst>
      </pc:sldChg>
      <pc:sldChg chg="del">
        <pc:chgData name="阿部　晃大" userId="795d8690-f1c8-4630-84c4-9373c78bb598" providerId="ADAL" clId="{09EEBB30-A4F3-416D-B43E-EE6C5C7603F9}" dt="2026-07-16T07:36:11.328" v="8" actId="47"/>
        <pc:sldMkLst>
          <pc:docMk/>
          <pc:sldMk cId="0" sldId="257"/>
        </pc:sldMkLst>
      </pc:sldChg>
      <pc:sldChg chg="del">
        <pc:chgData name="阿部　晃大" userId="795d8690-f1c8-4630-84c4-9373c78bb598" providerId="ADAL" clId="{09EEBB30-A4F3-416D-B43E-EE6C5C7603F9}" dt="2026-07-16T07:40:48.700" v="37" actId="47"/>
        <pc:sldMkLst>
          <pc:docMk/>
          <pc:sldMk cId="0" sldId="258"/>
        </pc:sldMkLst>
      </pc:sldChg>
      <pc:sldChg chg="add del setBg">
        <pc:chgData name="阿部　晃大" userId="795d8690-f1c8-4630-84c4-9373c78bb598" providerId="ADAL" clId="{09EEBB30-A4F3-416D-B43E-EE6C5C7603F9}" dt="2026-07-16T07:41:13.295" v="39"/>
        <pc:sldMkLst>
          <pc:docMk/>
          <pc:sldMk cId="0" sldId="259"/>
        </pc:sldMkLst>
      </pc:sldChg>
      <pc:sldChg chg="del">
        <pc:chgData name="阿部　晃大" userId="795d8690-f1c8-4630-84c4-9373c78bb598" providerId="ADAL" clId="{09EEBB30-A4F3-416D-B43E-EE6C5C7603F9}" dt="2026-07-16T07:41:25.323" v="41" actId="47"/>
        <pc:sldMkLst>
          <pc:docMk/>
          <pc:sldMk cId="0" sldId="260"/>
        </pc:sldMkLst>
      </pc:sldChg>
      <pc:sldChg chg="del">
        <pc:chgData name="阿部　晃大" userId="795d8690-f1c8-4630-84c4-9373c78bb598" providerId="ADAL" clId="{09EEBB30-A4F3-416D-B43E-EE6C5C7603F9}" dt="2026-07-16T07:41:56.646" v="45" actId="47"/>
        <pc:sldMkLst>
          <pc:docMk/>
          <pc:sldMk cId="0" sldId="262"/>
        </pc:sldMkLst>
      </pc:sldChg>
      <pc:sldChg chg="del">
        <pc:chgData name="阿部　晃大" userId="795d8690-f1c8-4630-84c4-9373c78bb598" providerId="ADAL" clId="{09EEBB30-A4F3-416D-B43E-EE6C5C7603F9}" dt="2026-07-16T07:42:20.306" v="47" actId="47"/>
        <pc:sldMkLst>
          <pc:docMk/>
          <pc:sldMk cId="0" sldId="264"/>
        </pc:sldMkLst>
      </pc:sldChg>
      <pc:sldChg chg="del">
        <pc:chgData name="阿部　晃大" userId="795d8690-f1c8-4630-84c4-9373c78bb598" providerId="ADAL" clId="{09EEBB30-A4F3-416D-B43E-EE6C5C7603F9}" dt="2026-07-16T07:42:34.295" v="49" actId="47"/>
        <pc:sldMkLst>
          <pc:docMk/>
          <pc:sldMk cId="0" sldId="266"/>
        </pc:sldMkLst>
      </pc:sldChg>
      <pc:sldChg chg="del">
        <pc:chgData name="阿部　晃大" userId="795d8690-f1c8-4630-84c4-9373c78bb598" providerId="ADAL" clId="{09EEBB30-A4F3-416D-B43E-EE6C5C7603F9}" dt="2026-07-16T07:42:52.988" v="51" actId="47"/>
        <pc:sldMkLst>
          <pc:docMk/>
          <pc:sldMk cId="0" sldId="267"/>
        </pc:sldMkLst>
      </pc:sldChg>
      <pc:sldChg chg="addSp delSp del mod">
        <pc:chgData name="阿部　晃大" userId="795d8690-f1c8-4630-84c4-9373c78bb598" providerId="ADAL" clId="{09EEBB30-A4F3-416D-B43E-EE6C5C7603F9}" dt="2026-07-16T07:45:37.614" v="59" actId="47"/>
        <pc:sldMkLst>
          <pc:docMk/>
          <pc:sldMk cId="0" sldId="269"/>
        </pc:sldMkLst>
        <pc:spChg chg="add del">
          <ac:chgData name="阿部　晃大" userId="795d8690-f1c8-4630-84c4-9373c78bb598" providerId="ADAL" clId="{09EEBB30-A4F3-416D-B43E-EE6C5C7603F9}" dt="2026-07-16T07:35:32.490" v="4" actId="22"/>
          <ac:spMkLst>
            <pc:docMk/>
            <pc:sldMk cId="0" sldId="269"/>
            <ac:spMk id="41" creationId="{7AE60E5D-5F5C-7B2A-331C-800265BD4C9E}"/>
          </ac:spMkLst>
        </pc:spChg>
      </pc:sldChg>
      <pc:sldChg chg="modSp mod modShow">
        <pc:chgData name="阿部　晃大" userId="795d8690-f1c8-4630-84c4-9373c78bb598" providerId="ADAL" clId="{09EEBB30-A4F3-416D-B43E-EE6C5C7603F9}" dt="2026-07-16T07:51:51.994" v="112" actId="20577"/>
        <pc:sldMkLst>
          <pc:docMk/>
          <pc:sldMk cId="0" sldId="270"/>
        </pc:sldMkLst>
        <pc:spChg chg="mod">
          <ac:chgData name="阿部　晃大" userId="795d8690-f1c8-4630-84c4-9373c78bb598" providerId="ADAL" clId="{09EEBB30-A4F3-416D-B43E-EE6C5C7603F9}" dt="2026-07-16T07:50:19.295" v="85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33.839" v="97" actId="403"/>
          <ac:spMkLst>
            <pc:docMk/>
            <pc:sldMk cId="0" sldId="270"/>
            <ac:spMk id="14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33.839" v="97" actId="40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31.186" v="96" actId="403"/>
          <ac:spMkLst>
            <pc:docMk/>
            <pc:sldMk cId="0" sldId="270"/>
            <ac:spMk id="20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18.529" v="94" actId="2711"/>
          <ac:spMkLst>
            <pc:docMk/>
            <pc:sldMk cId="0" sldId="270"/>
            <ac:spMk id="23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48.566" v="107" actId="20577"/>
          <ac:spMkLst>
            <pc:docMk/>
            <pc:sldMk cId="0" sldId="270"/>
            <ac:spMk id="25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51:51.994" v="112" actId="20577"/>
          <ac:spMkLst>
            <pc:docMk/>
            <pc:sldMk cId="0" sldId="270"/>
            <ac:spMk id="27" creationId="{00000000-0000-0000-0000-000000000000}"/>
          </ac:spMkLst>
        </pc:spChg>
      </pc:sldChg>
      <pc:sldChg chg="del">
        <pc:chgData name="阿部　晃大" userId="795d8690-f1c8-4630-84c4-9373c78bb598" providerId="ADAL" clId="{09EEBB30-A4F3-416D-B43E-EE6C5C7603F9}" dt="2026-07-16T07:45:26.649" v="58" actId="47"/>
        <pc:sldMkLst>
          <pc:docMk/>
          <pc:sldMk cId="0" sldId="272"/>
        </pc:sldMkLst>
      </pc:sldChg>
      <pc:sldChg chg="del">
        <pc:chgData name="阿部　晃大" userId="795d8690-f1c8-4630-84c4-9373c78bb598" providerId="ADAL" clId="{09EEBB30-A4F3-416D-B43E-EE6C5C7603F9}" dt="2026-07-16T07:45:18.166" v="57" actId="47"/>
        <pc:sldMkLst>
          <pc:docMk/>
          <pc:sldMk cId="0" sldId="273"/>
        </pc:sldMkLst>
      </pc:sldChg>
      <pc:sldChg chg="del">
        <pc:chgData name="阿部　晃大" userId="795d8690-f1c8-4630-84c4-9373c78bb598" providerId="ADAL" clId="{09EEBB30-A4F3-416D-B43E-EE6C5C7603F9}" dt="2026-07-16T07:46:23.384" v="61" actId="47"/>
        <pc:sldMkLst>
          <pc:docMk/>
          <pc:sldMk cId="0" sldId="275"/>
        </pc:sldMkLst>
      </pc:sldChg>
      <pc:sldChg chg="add del ord setBg">
        <pc:chgData name="阿部　晃大" userId="795d8690-f1c8-4630-84c4-9373c78bb598" providerId="ADAL" clId="{09EEBB30-A4F3-416D-B43E-EE6C5C7603F9}" dt="2026-07-16T07:46:35.274" v="65"/>
        <pc:sldMkLst>
          <pc:docMk/>
          <pc:sldMk cId="0" sldId="276"/>
        </pc:sldMkLst>
      </pc:sldChg>
      <pc:sldChg chg="del">
        <pc:chgData name="阿部　晃大" userId="795d8690-f1c8-4630-84c4-9373c78bb598" providerId="ADAL" clId="{09EEBB30-A4F3-416D-B43E-EE6C5C7603F9}" dt="2026-07-16T07:47:04.157" v="67" actId="47"/>
        <pc:sldMkLst>
          <pc:docMk/>
          <pc:sldMk cId="0" sldId="277"/>
        </pc:sldMkLst>
      </pc:sldChg>
      <pc:sldChg chg="del">
        <pc:chgData name="阿部　晃大" userId="795d8690-f1c8-4630-84c4-9373c78bb598" providerId="ADAL" clId="{09EEBB30-A4F3-416D-B43E-EE6C5C7603F9}" dt="2026-07-16T07:48:00.519" v="71" actId="47"/>
        <pc:sldMkLst>
          <pc:docMk/>
          <pc:sldMk cId="0" sldId="279"/>
        </pc:sldMkLst>
      </pc:sldChg>
      <pc:sldChg chg="add del">
        <pc:chgData name="阿部　晃大" userId="795d8690-f1c8-4630-84c4-9373c78bb598" providerId="ADAL" clId="{09EEBB30-A4F3-416D-B43E-EE6C5C7603F9}" dt="2026-07-16T07:49:14.843" v="77" actId="47"/>
        <pc:sldMkLst>
          <pc:docMk/>
          <pc:sldMk cId="0" sldId="281"/>
        </pc:sldMkLst>
      </pc:sldChg>
      <pc:sldChg chg="addSp delSp modSp add del mod modShow">
        <pc:chgData name="阿部　晃大" userId="795d8690-f1c8-4630-84c4-9373c78bb598" providerId="ADAL" clId="{09EEBB30-A4F3-416D-B43E-EE6C5C7603F9}" dt="2026-07-16T07:57:35.831" v="149" actId="47"/>
        <pc:sldMkLst>
          <pc:docMk/>
          <pc:sldMk cId="0" sldId="283"/>
        </pc:sldMkLst>
        <pc:spChg chg="add del mod">
          <ac:chgData name="阿部　晃大" userId="795d8690-f1c8-4630-84c4-9373c78bb598" providerId="ADAL" clId="{09EEBB30-A4F3-416D-B43E-EE6C5C7603F9}" dt="2026-07-16T07:57:23.153" v="128" actId="478"/>
          <ac:spMkLst>
            <pc:docMk/>
            <pc:sldMk cId="0" sldId="283"/>
            <ac:spMk id="30" creationId="{69FE348A-DCB5-F18E-E77B-6F3447077B18}"/>
          </ac:spMkLst>
        </pc:spChg>
        <pc:spChg chg="add del mod">
          <ac:chgData name="阿部　晃大" userId="795d8690-f1c8-4630-84c4-9373c78bb598" providerId="ADAL" clId="{09EEBB30-A4F3-416D-B43E-EE6C5C7603F9}" dt="2026-07-16T07:57:32.683" v="148" actId="478"/>
          <ac:spMkLst>
            <pc:docMk/>
            <pc:sldMk cId="0" sldId="283"/>
            <ac:spMk id="31" creationId="{4A95B0DF-DB4E-B785-93FB-A7C9A79DDFCE}"/>
          </ac:spMkLst>
        </pc:spChg>
      </pc:sldChg>
      <pc:sldChg chg="del">
        <pc:chgData name="阿部　晃大" userId="795d8690-f1c8-4630-84c4-9373c78bb598" providerId="ADAL" clId="{09EEBB30-A4F3-416D-B43E-EE6C5C7603F9}" dt="2026-07-16T07:55:26.798" v="116" actId="47"/>
        <pc:sldMkLst>
          <pc:docMk/>
          <pc:sldMk cId="0" sldId="287"/>
        </pc:sldMkLst>
      </pc:sldChg>
      <pc:sldChg chg="add setBg">
        <pc:chgData name="阿部　晃大" userId="795d8690-f1c8-4630-84c4-9373c78bb598" providerId="ADAL" clId="{09EEBB30-A4F3-416D-B43E-EE6C5C7603F9}" dt="2026-07-16T07:35:40.128" v="5"/>
        <pc:sldMkLst>
          <pc:docMk/>
          <pc:sldMk cId="0" sldId="288"/>
        </pc:sldMkLst>
      </pc:sldChg>
      <pc:sldChg chg="modSp add mod setBg">
        <pc:chgData name="阿部　晃大" userId="795d8690-f1c8-4630-84c4-9373c78bb598" providerId="ADAL" clId="{09EEBB30-A4F3-416D-B43E-EE6C5C7603F9}" dt="2026-07-16T07:39:40.007" v="27" actId="403"/>
        <pc:sldMkLst>
          <pc:docMk/>
          <pc:sldMk cId="0" sldId="289"/>
        </pc:sldMkLst>
        <pc:spChg chg="mod">
          <ac:chgData name="阿部　晃大" userId="795d8690-f1c8-4630-84c4-9373c78bb598" providerId="ADAL" clId="{09EEBB30-A4F3-416D-B43E-EE6C5C7603F9}" dt="2026-07-16T07:36:35.539" v="15"/>
          <ac:spMkLst>
            <pc:docMk/>
            <pc:sldMk cId="0" sldId="289"/>
            <ac:spMk id="9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39:40.007" v="27" actId="403"/>
          <ac:spMkLst>
            <pc:docMk/>
            <pc:sldMk cId="0" sldId="289"/>
            <ac:spMk id="19" creationId="{00000000-0000-0000-0000-000000000000}"/>
          </ac:spMkLst>
        </pc:spChg>
      </pc:sldChg>
      <pc:sldChg chg="modSp add mod setBg">
        <pc:chgData name="阿部　晃大" userId="795d8690-f1c8-4630-84c4-9373c78bb598" providerId="ADAL" clId="{09EEBB30-A4F3-416D-B43E-EE6C5C7603F9}" dt="2026-07-16T07:40:44.067" v="36" actId="403"/>
        <pc:sldMkLst>
          <pc:docMk/>
          <pc:sldMk cId="0" sldId="290"/>
        </pc:sldMkLst>
        <pc:spChg chg="mod">
          <ac:chgData name="阿部　晃大" userId="795d8690-f1c8-4630-84c4-9373c78bb598" providerId="ADAL" clId="{09EEBB30-A4F3-416D-B43E-EE6C5C7603F9}" dt="2026-07-16T07:40:44.067" v="36" actId="403"/>
          <ac:spMkLst>
            <pc:docMk/>
            <pc:sldMk cId="0" sldId="290"/>
            <ac:spMk id="6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7:40:40.953" v="34" actId="1076"/>
          <ac:spMkLst>
            <pc:docMk/>
            <pc:sldMk cId="0" sldId="290"/>
            <ac:spMk id="8" creationId="{00000000-0000-0000-0000-000000000000}"/>
          </ac:spMkLst>
        </pc:spChg>
      </pc:sldChg>
      <pc:sldChg chg="modSp add mod setBg">
        <pc:chgData name="阿部　晃大" userId="795d8690-f1c8-4630-84c4-9373c78bb598" providerId="ADAL" clId="{09EEBB30-A4F3-416D-B43E-EE6C5C7603F9}" dt="2026-07-17T04:57:01.647" v="176" actId="20577"/>
        <pc:sldMkLst>
          <pc:docMk/>
          <pc:sldMk cId="0" sldId="291"/>
        </pc:sldMkLst>
        <pc:spChg chg="mod">
          <ac:chgData name="阿部　晃大" userId="795d8690-f1c8-4630-84c4-9373c78bb598" providerId="ADAL" clId="{09EEBB30-A4F3-416D-B43E-EE6C5C7603F9}" dt="2026-07-17T04:56:42.947" v="165" actId="20577"/>
          <ac:spMkLst>
            <pc:docMk/>
            <pc:sldMk cId="0" sldId="291"/>
            <ac:spMk id="22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7T04:57:01.647" v="176" actId="20577"/>
          <ac:spMkLst>
            <pc:docMk/>
            <pc:sldMk cId="0" sldId="291"/>
            <ac:spMk id="25" creationId="{00000000-0000-0000-0000-000000000000}"/>
          </ac:spMkLst>
        </pc:spChg>
      </pc:sldChg>
      <pc:sldChg chg="add ord setBg">
        <pc:chgData name="阿部　晃大" userId="795d8690-f1c8-4630-84c4-9373c78bb598" providerId="ADAL" clId="{09EEBB30-A4F3-416D-B43E-EE6C5C7603F9}" dt="2026-07-16T07:41:49.422" v="44"/>
        <pc:sldMkLst>
          <pc:docMk/>
          <pc:sldMk cId="0" sldId="292"/>
        </pc:sldMkLst>
      </pc:sldChg>
      <pc:sldChg chg="add setBg">
        <pc:chgData name="阿部　晃大" userId="795d8690-f1c8-4630-84c4-9373c78bb598" providerId="ADAL" clId="{09EEBB30-A4F3-416D-B43E-EE6C5C7603F9}" dt="2026-07-16T07:42:13.636" v="46"/>
        <pc:sldMkLst>
          <pc:docMk/>
          <pc:sldMk cId="0" sldId="293"/>
        </pc:sldMkLst>
      </pc:sldChg>
      <pc:sldChg chg="add setBg">
        <pc:chgData name="阿部　晃大" userId="795d8690-f1c8-4630-84c4-9373c78bb598" providerId="ADAL" clId="{09EEBB30-A4F3-416D-B43E-EE6C5C7603F9}" dt="2026-07-16T07:42:30.867" v="48"/>
        <pc:sldMkLst>
          <pc:docMk/>
          <pc:sldMk cId="0" sldId="294"/>
        </pc:sldMkLst>
      </pc:sldChg>
      <pc:sldChg chg="modSp add mod setBg">
        <pc:chgData name="阿部　晃大" userId="795d8690-f1c8-4630-84c4-9373c78bb598" providerId="ADAL" clId="{09EEBB30-A4F3-416D-B43E-EE6C5C7603F9}" dt="2026-07-16T07:42:57.303" v="53" actId="403"/>
        <pc:sldMkLst>
          <pc:docMk/>
          <pc:sldMk cId="0" sldId="295"/>
        </pc:sldMkLst>
        <pc:spChg chg="mod">
          <ac:chgData name="阿部　晃大" userId="795d8690-f1c8-4630-84c4-9373c78bb598" providerId="ADAL" clId="{09EEBB30-A4F3-416D-B43E-EE6C5C7603F9}" dt="2026-07-16T07:42:57.303" v="53" actId="403"/>
          <ac:spMkLst>
            <pc:docMk/>
            <pc:sldMk cId="0" sldId="295"/>
            <ac:spMk id="10" creationId="{00000000-0000-0000-0000-000000000000}"/>
          </ac:spMkLst>
        </pc:spChg>
      </pc:sldChg>
      <pc:sldChg chg="add setBg">
        <pc:chgData name="阿部　晃大" userId="795d8690-f1c8-4630-84c4-9373c78bb598" providerId="ADAL" clId="{09EEBB30-A4F3-416D-B43E-EE6C5C7603F9}" dt="2026-07-16T07:44:28.794" v="54"/>
        <pc:sldMkLst>
          <pc:docMk/>
          <pc:sldMk cId="0" sldId="296"/>
        </pc:sldMkLst>
      </pc:sldChg>
      <pc:sldChg chg="delSp modSp add mod setBg">
        <pc:chgData name="阿部　晃大" userId="795d8690-f1c8-4630-84c4-9373c78bb598" providerId="ADAL" clId="{09EEBB30-A4F3-416D-B43E-EE6C5C7603F9}" dt="2026-07-16T08:01:25.930" v="152" actId="1076"/>
        <pc:sldMkLst>
          <pc:docMk/>
          <pc:sldMk cId="0" sldId="297"/>
        </pc:sldMkLst>
        <pc:spChg chg="del">
          <ac:chgData name="阿部　晃大" userId="795d8690-f1c8-4630-84c4-9373c78bb598" providerId="ADAL" clId="{09EEBB30-A4F3-416D-B43E-EE6C5C7603F9}" dt="2026-07-16T08:01:21.241" v="151" actId="478"/>
          <ac:spMkLst>
            <pc:docMk/>
            <pc:sldMk cId="0" sldId="297"/>
            <ac:spMk id="25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8:01:18.988" v="150" actId="478"/>
          <ac:spMkLst>
            <pc:docMk/>
            <pc:sldMk cId="0" sldId="297"/>
            <ac:spMk id="26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6T08:01:25.930" v="152" actId="1076"/>
          <ac:spMkLst>
            <pc:docMk/>
            <pc:sldMk cId="0" sldId="297"/>
            <ac:spMk id="27" creationId="{00000000-0000-0000-0000-000000000000}"/>
          </ac:spMkLst>
        </pc:spChg>
      </pc:sldChg>
      <pc:sldChg chg="add setBg">
        <pc:chgData name="阿部　晃大" userId="795d8690-f1c8-4630-84c4-9373c78bb598" providerId="ADAL" clId="{09EEBB30-A4F3-416D-B43E-EE6C5C7603F9}" dt="2026-07-16T07:45:08.784" v="56"/>
        <pc:sldMkLst>
          <pc:docMk/>
          <pc:sldMk cId="0" sldId="298"/>
        </pc:sldMkLst>
      </pc:sldChg>
      <pc:sldChg chg="add setBg">
        <pc:chgData name="阿部　晃大" userId="795d8690-f1c8-4630-84c4-9373c78bb598" providerId="ADAL" clId="{09EEBB30-A4F3-416D-B43E-EE6C5C7603F9}" dt="2026-07-16T07:46:18.183" v="60"/>
        <pc:sldMkLst>
          <pc:docMk/>
          <pc:sldMk cId="0" sldId="299"/>
        </pc:sldMkLst>
      </pc:sldChg>
      <pc:sldChg chg="modSp add mod setBg">
        <pc:chgData name="阿部　晃大" userId="795d8690-f1c8-4630-84c4-9373c78bb598" providerId="ADAL" clId="{09EEBB30-A4F3-416D-B43E-EE6C5C7603F9}" dt="2026-07-17T04:53:05.475" v="162" actId="1076"/>
        <pc:sldMkLst>
          <pc:docMk/>
          <pc:sldMk cId="0" sldId="300"/>
        </pc:sldMkLst>
        <pc:spChg chg="mod">
          <ac:chgData name="阿部　晃大" userId="795d8690-f1c8-4630-84c4-9373c78bb598" providerId="ADAL" clId="{09EEBB30-A4F3-416D-B43E-EE6C5C7603F9}" dt="2026-07-17T04:52:52.760" v="161" actId="1076"/>
          <ac:spMkLst>
            <pc:docMk/>
            <pc:sldMk cId="0" sldId="300"/>
            <ac:spMk id="4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7T04:52:51.191" v="160" actId="1076"/>
          <ac:spMkLst>
            <pc:docMk/>
            <pc:sldMk cId="0" sldId="300"/>
            <ac:spMk id="19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7T04:53:05.475" v="162" actId="1076"/>
          <ac:spMkLst>
            <pc:docMk/>
            <pc:sldMk cId="0" sldId="300"/>
            <ac:spMk id="21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7T04:53:05.475" v="162" actId="1076"/>
          <ac:spMkLst>
            <pc:docMk/>
            <pc:sldMk cId="0" sldId="300"/>
            <ac:spMk id="23" creationId="{00000000-0000-0000-0000-000000000000}"/>
          </ac:spMkLst>
        </pc:spChg>
        <pc:spChg chg="mod">
          <ac:chgData name="阿部　晃大" userId="795d8690-f1c8-4630-84c4-9373c78bb598" providerId="ADAL" clId="{09EEBB30-A4F3-416D-B43E-EE6C5C7603F9}" dt="2026-07-17T04:53:05.475" v="162" actId="1076"/>
          <ac:spMkLst>
            <pc:docMk/>
            <pc:sldMk cId="0" sldId="300"/>
            <ac:spMk id="25" creationId="{00000000-0000-0000-0000-000000000000}"/>
          </ac:spMkLst>
        </pc:spChg>
      </pc:sldChg>
      <pc:sldChg chg="add del setBg">
        <pc:chgData name="阿部　晃大" userId="795d8690-f1c8-4630-84c4-9373c78bb598" providerId="ADAL" clId="{09EEBB30-A4F3-416D-B43E-EE6C5C7603F9}" dt="2026-07-16T07:47:42.308" v="70"/>
        <pc:sldMkLst>
          <pc:docMk/>
          <pc:sldMk cId="0" sldId="301"/>
        </pc:sldMkLst>
      </pc:sldChg>
      <pc:sldChg chg="addSp delSp modSp add mod setBg">
        <pc:chgData name="阿部　晃大" userId="795d8690-f1c8-4630-84c4-9373c78bb598" providerId="ADAL" clId="{09EEBB30-A4F3-416D-B43E-EE6C5C7603F9}" dt="2026-07-17T05:00:15.768" v="185" actId="20577"/>
        <pc:sldMkLst>
          <pc:docMk/>
          <pc:sldMk cId="0" sldId="302"/>
        </pc:sldMkLst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29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0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1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2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3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5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6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7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39" creationId="{00000000-0000-0000-0000-000000000000}"/>
          </ac:spMkLst>
        </pc:spChg>
        <pc:spChg chg="del">
          <ac:chgData name="阿部　晃大" userId="795d8690-f1c8-4630-84c4-9373c78bb598" providerId="ADAL" clId="{09EEBB30-A4F3-416D-B43E-EE6C5C7603F9}" dt="2026-07-16T07:49:04.851" v="75" actId="478"/>
          <ac:spMkLst>
            <pc:docMk/>
            <pc:sldMk cId="0" sldId="302"/>
            <ac:spMk id="40" creationId="{00000000-0000-0000-0000-000000000000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45" creationId="{3A25973C-C322-6692-839F-876A7B12A9B0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49" creationId="{F30CA766-D86F-39A3-48C7-FC24EF801880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51" creationId="{C5BC44CD-1391-DA9C-4DAB-C96DCAFA9684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53" creationId="{2CF0C8E1-F612-C052-482D-C7AE2B6A5639}"/>
          </ac:spMkLst>
        </pc:spChg>
        <pc:spChg chg="add mod">
          <ac:chgData name="阿部　晃大" userId="795d8690-f1c8-4630-84c4-9373c78bb598" providerId="ADAL" clId="{09EEBB30-A4F3-416D-B43E-EE6C5C7603F9}" dt="2026-07-17T05:00:15.768" v="185" actId="20577"/>
          <ac:spMkLst>
            <pc:docMk/>
            <pc:sldMk cId="0" sldId="302"/>
            <ac:spMk id="57" creationId="{D81DE63E-1C87-7562-8F8F-804DCCC863B9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61" creationId="{C75832B8-8A6D-FFED-8CFD-E4980293E8BD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63" creationId="{CD352C5B-7730-1BC2-D66F-C152909A1335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65" creationId="{A871DB16-F7EE-8C7F-C9F1-F7E417C1C737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67" creationId="{8280F818-424E-17FE-0C59-CA03034C98C7}"/>
          </ac:spMkLst>
        </pc:spChg>
        <pc:spChg chg="add">
          <ac:chgData name="阿部　晃大" userId="795d8690-f1c8-4630-84c4-9373c78bb598" providerId="ADAL" clId="{09EEBB30-A4F3-416D-B43E-EE6C5C7603F9}" dt="2026-07-16T07:49:05.989" v="76" actId="22"/>
          <ac:spMkLst>
            <pc:docMk/>
            <pc:sldMk cId="0" sldId="302"/>
            <ac:spMk id="69" creationId="{A6A66AEC-2239-0910-4AE8-DA5CE2689E6C}"/>
          </ac:spMkLst>
        </pc:spChg>
      </pc:sldChg>
      <pc:sldChg chg="add setBg">
        <pc:chgData name="阿部　晃大" userId="795d8690-f1c8-4630-84c4-9373c78bb598" providerId="ADAL" clId="{09EEBB30-A4F3-416D-B43E-EE6C5C7603F9}" dt="2026-07-16T07:55:21.450" v="115"/>
        <pc:sldMkLst>
          <pc:docMk/>
          <pc:sldMk cId="0" sldId="303"/>
        </pc:sldMkLst>
      </pc:sldChg>
    </pc:docChg>
  </pc:docChgLst>
  <pc:docChgLst>
    <pc:chgData name="植木　将也" userId="3fe49dee-6371-4d5f-985d-6d5ef06bb363" providerId="ADAL" clId="{BF09A221-5C25-4B97-8558-4679D0C3BC63}"/>
    <pc:docChg chg="undo custSel modSld">
      <pc:chgData name="植木　将也" userId="3fe49dee-6371-4d5f-985d-6d5ef06bb363" providerId="ADAL" clId="{BF09A221-5C25-4B97-8558-4679D0C3BC63}" dt="2026-07-31T06:08:51.190" v="261" actId="1076"/>
      <pc:docMkLst>
        <pc:docMk/>
      </pc:docMkLst>
      <pc:sldChg chg="addSp delSp modSp mod">
        <pc:chgData name="植木　将也" userId="3fe49dee-6371-4d5f-985d-6d5ef06bb363" providerId="ADAL" clId="{BF09A221-5C25-4B97-8558-4679D0C3BC63}" dt="2026-07-31T06:02:41.079" v="35" actId="20577"/>
        <pc:sldMkLst>
          <pc:docMk/>
          <pc:sldMk cId="0" sldId="276"/>
        </pc:sldMkLst>
        <pc:spChg chg="add mod">
          <ac:chgData name="植木　将也" userId="3fe49dee-6371-4d5f-985d-6d5ef06bb363" providerId="ADAL" clId="{BF09A221-5C25-4B97-8558-4679D0C3BC63}" dt="2026-07-31T06:02:41.079" v="35" actId="20577"/>
          <ac:spMkLst>
            <pc:docMk/>
            <pc:sldMk cId="0" sldId="276"/>
            <ac:spMk id="30" creationId="{E5B6BFA3-DF46-594A-5B24-D270BAD61C4A}"/>
          </ac:spMkLst>
        </pc:spChg>
        <pc:spChg chg="add del mod">
          <ac:chgData name="植木　将也" userId="3fe49dee-6371-4d5f-985d-6d5ef06bb363" providerId="ADAL" clId="{BF09A221-5C25-4B97-8558-4679D0C3BC63}" dt="2026-07-31T06:02:07.720" v="30" actId="478"/>
          <ac:spMkLst>
            <pc:docMk/>
            <pc:sldMk cId="0" sldId="276"/>
            <ac:spMk id="32" creationId="{BC184A8E-2DEC-B6E4-F4CA-DE1ED0E297C8}"/>
          </ac:spMkLst>
        </pc:spChg>
      </pc:sldChg>
      <pc:sldChg chg="addSp modSp mod">
        <pc:chgData name="植木　将也" userId="3fe49dee-6371-4d5f-985d-6d5ef06bb363" providerId="ADAL" clId="{BF09A221-5C25-4B97-8558-4679D0C3BC63}" dt="2026-07-31T06:04:10.128" v="91" actId="20577"/>
        <pc:sldMkLst>
          <pc:docMk/>
          <pc:sldMk cId="0" sldId="278"/>
        </pc:sldMkLst>
        <pc:spChg chg="add mod">
          <ac:chgData name="植木　将也" userId="3fe49dee-6371-4d5f-985d-6d5ef06bb363" providerId="ADAL" clId="{BF09A221-5C25-4B97-8558-4679D0C3BC63}" dt="2026-07-31T06:03:37.550" v="54" actId="1076"/>
          <ac:spMkLst>
            <pc:docMk/>
            <pc:sldMk cId="0" sldId="278"/>
            <ac:spMk id="46" creationId="{6A79F90D-CFD4-0BDC-5574-314EB408BF66}"/>
          </ac:spMkLst>
        </pc:spChg>
        <pc:spChg chg="add mod">
          <ac:chgData name="植木　将也" userId="3fe49dee-6371-4d5f-985d-6d5ef06bb363" providerId="ADAL" clId="{BF09A221-5C25-4B97-8558-4679D0C3BC63}" dt="2026-07-31T06:04:10.128" v="91" actId="20577"/>
          <ac:spMkLst>
            <pc:docMk/>
            <pc:sldMk cId="0" sldId="278"/>
            <ac:spMk id="48" creationId="{9CD87475-C799-16CB-11AB-8234EE078124}"/>
          </ac:spMkLst>
        </pc:spChg>
      </pc:sldChg>
      <pc:sldChg chg="addSp modSp mod">
        <pc:chgData name="植木　将也" userId="3fe49dee-6371-4d5f-985d-6d5ef06bb363" providerId="ADAL" clId="{BF09A221-5C25-4B97-8558-4679D0C3BC63}" dt="2026-07-31T06:07:26.253" v="257" actId="1076"/>
        <pc:sldMkLst>
          <pc:docMk/>
          <pc:sldMk cId="0" sldId="280"/>
        </pc:sldMkLst>
        <pc:spChg chg="add mod">
          <ac:chgData name="植木　将也" userId="3fe49dee-6371-4d5f-985d-6d5ef06bb363" providerId="ADAL" clId="{BF09A221-5C25-4B97-8558-4679D0C3BC63}" dt="2026-07-31T06:06:15.372" v="150" actId="14100"/>
          <ac:spMkLst>
            <pc:docMk/>
            <pc:sldMk cId="0" sldId="280"/>
            <ac:spMk id="34" creationId="{4507D2A8-4B1E-6128-9044-B50264BC6FF5}"/>
          </ac:spMkLst>
        </pc:spChg>
        <pc:spChg chg="add mod">
          <ac:chgData name="植木　将也" userId="3fe49dee-6371-4d5f-985d-6d5ef06bb363" providerId="ADAL" clId="{BF09A221-5C25-4B97-8558-4679D0C3BC63}" dt="2026-07-31T06:07:26.253" v="257" actId="1076"/>
          <ac:spMkLst>
            <pc:docMk/>
            <pc:sldMk cId="0" sldId="280"/>
            <ac:spMk id="36" creationId="{BA98A9F9-E867-745D-AE1E-65BE3E26F2D7}"/>
          </ac:spMkLst>
        </pc:spChg>
      </pc:sldChg>
      <pc:sldChg chg="modSp mod">
        <pc:chgData name="植木　将也" userId="3fe49dee-6371-4d5f-985d-6d5ef06bb363" providerId="ADAL" clId="{BF09A221-5C25-4B97-8558-4679D0C3BC63}" dt="2026-07-31T05:18:01.624" v="1" actId="1076"/>
        <pc:sldMkLst>
          <pc:docMk/>
          <pc:sldMk cId="0" sldId="297"/>
        </pc:sldMkLst>
        <pc:spChg chg="mod">
          <ac:chgData name="植木　将也" userId="3fe49dee-6371-4d5f-985d-6d5ef06bb363" providerId="ADAL" clId="{BF09A221-5C25-4B97-8558-4679D0C3BC63}" dt="2026-07-31T05:18:01.624" v="1" actId="1076"/>
          <ac:spMkLst>
            <pc:docMk/>
            <pc:sldMk cId="0" sldId="297"/>
            <ac:spMk id="23" creationId="{00000000-0000-0000-0000-000000000000}"/>
          </ac:spMkLst>
        </pc:spChg>
      </pc:sldChg>
      <pc:sldChg chg="addSp delSp modSp mod">
        <pc:chgData name="植木　将也" userId="3fe49dee-6371-4d5f-985d-6d5ef06bb363" providerId="ADAL" clId="{BF09A221-5C25-4B97-8558-4679D0C3BC63}" dt="2026-07-31T06:03:05.604" v="52" actId="20577"/>
        <pc:sldMkLst>
          <pc:docMk/>
          <pc:sldMk cId="0" sldId="300"/>
        </pc:sldMkLst>
        <pc:spChg chg="add del mod">
          <ac:chgData name="植木　将也" userId="3fe49dee-6371-4d5f-985d-6d5ef06bb363" providerId="ADAL" clId="{BF09A221-5C25-4B97-8558-4679D0C3BC63}" dt="2026-07-31T06:02:51.665" v="39" actId="22"/>
          <ac:spMkLst>
            <pc:docMk/>
            <pc:sldMk cId="0" sldId="300"/>
            <ac:spMk id="40" creationId="{086B8AC7-FE48-4C03-A228-963785ED65FD}"/>
          </ac:spMkLst>
        </pc:spChg>
        <pc:spChg chg="add mod">
          <ac:chgData name="植木　将也" userId="3fe49dee-6371-4d5f-985d-6d5ef06bb363" providerId="ADAL" clId="{BF09A221-5C25-4B97-8558-4679D0C3BC63}" dt="2026-07-31T06:03:05.604" v="52" actId="20577"/>
          <ac:spMkLst>
            <pc:docMk/>
            <pc:sldMk cId="0" sldId="300"/>
            <ac:spMk id="42" creationId="{769704DB-492C-6192-A58D-A4B9464012E1}"/>
          </ac:spMkLst>
        </pc:spChg>
      </pc:sldChg>
      <pc:sldChg chg="addSp modSp mod">
        <pc:chgData name="植木　将也" userId="3fe49dee-6371-4d5f-985d-6d5ef06bb363" providerId="ADAL" clId="{BF09A221-5C25-4B97-8558-4679D0C3BC63}" dt="2026-07-31T06:05:39.212" v="146" actId="1076"/>
        <pc:sldMkLst>
          <pc:docMk/>
          <pc:sldMk cId="0" sldId="301"/>
        </pc:sldMkLst>
        <pc:spChg chg="add mod">
          <ac:chgData name="植木　将也" userId="3fe49dee-6371-4d5f-985d-6d5ef06bb363" providerId="ADAL" clId="{BF09A221-5C25-4B97-8558-4679D0C3BC63}" dt="2026-07-31T06:05:23.135" v="144" actId="1076"/>
          <ac:spMkLst>
            <pc:docMk/>
            <pc:sldMk cId="0" sldId="301"/>
            <ac:spMk id="46" creationId="{89CEBC60-0F1F-04AE-9CC3-820B2CAADC8D}"/>
          </ac:spMkLst>
        </pc:spChg>
        <pc:spChg chg="add mod">
          <ac:chgData name="植木　将也" userId="3fe49dee-6371-4d5f-985d-6d5ef06bb363" providerId="ADAL" clId="{BF09A221-5C25-4B97-8558-4679D0C3BC63}" dt="2026-07-31T06:05:39.212" v="146" actId="1076"/>
          <ac:spMkLst>
            <pc:docMk/>
            <pc:sldMk cId="0" sldId="301"/>
            <ac:spMk id="48" creationId="{09F0DD9E-B76E-72CB-7079-A66A527AC868}"/>
          </ac:spMkLst>
        </pc:spChg>
      </pc:sldChg>
      <pc:sldChg chg="addSp modSp mod">
        <pc:chgData name="植木　将也" userId="3fe49dee-6371-4d5f-985d-6d5ef06bb363" providerId="ADAL" clId="{BF09A221-5C25-4B97-8558-4679D0C3BC63}" dt="2026-07-31T06:08:51.190" v="261" actId="1076"/>
        <pc:sldMkLst>
          <pc:docMk/>
          <pc:sldMk cId="0" sldId="302"/>
        </pc:sldMkLst>
        <pc:spChg chg="add mod">
          <ac:chgData name="植木　将也" userId="3fe49dee-6371-4d5f-985d-6d5ef06bb363" providerId="ADAL" clId="{BF09A221-5C25-4B97-8558-4679D0C3BC63}" dt="2026-07-31T06:08:51.190" v="261" actId="1076"/>
          <ac:spMkLst>
            <pc:docMk/>
            <pc:sldMk cId="0" sldId="302"/>
            <ac:spMk id="12" creationId="{4874C613-367B-354E-0AF8-B47D941A2F89}"/>
          </ac:spMkLst>
        </pc:spChg>
        <pc:spChg chg="add mod">
          <ac:chgData name="植木　将也" userId="3fe49dee-6371-4d5f-985d-6d5ef06bb363" providerId="ADAL" clId="{BF09A221-5C25-4B97-8558-4679D0C3BC63}" dt="2026-07-31T06:07:43.987" v="260" actId="1076"/>
          <ac:spMkLst>
            <pc:docMk/>
            <pc:sldMk cId="0" sldId="302"/>
            <ac:spMk id="30" creationId="{1705A98D-B86B-832D-4C99-7E3724C18DF9}"/>
          </ac:spMkLst>
        </pc:spChg>
      </pc:sldChg>
    </pc:docChg>
  </pc:docChgLst>
  <pc:docChgLst>
    <pc:chgData name="塚田　弘文" userId="S::hirofumi_tsukada@jmas.co.jp::2f373785-4c19-4122-8ef6-e5a9d24f7752" providerId="AD" clId="Web-{E844D1E9-2AC3-9185-7C23-F2B77331617F}"/>
    <pc:docChg chg="delSld modSld sldOrd">
      <pc:chgData name="塚田　弘文" userId="S::hirofumi_tsukada@jmas.co.jp::2f373785-4c19-4122-8ef6-e5a9d24f7752" providerId="AD" clId="Web-{E844D1E9-2AC3-9185-7C23-F2B77331617F}" dt="2026-07-14T05:13:13.144" v="4"/>
      <pc:docMkLst>
        <pc:docMk/>
      </pc:docMkLst>
      <pc:sldChg chg="mod modShow">
        <pc:chgData name="塚田　弘文" userId="S::hirofumi_tsukada@jmas.co.jp::2f373785-4c19-4122-8ef6-e5a9d24f7752" providerId="AD" clId="Web-{E844D1E9-2AC3-9185-7C23-F2B77331617F}" dt="2026-07-14T05:13:13.144" v="4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45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4e9b81f6d12830ae065c232b58ef0d3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0" y="0"/>
            <a:ext cx="7810805" cy="10287000"/>
          </a:xfrm>
          <a:prstGeom prst="rect">
            <a:avLst/>
          </a:prstGeom>
        </p:spPr>
      </p:pic>
      <p:pic>
        <p:nvPicPr>
          <p:cNvPr id="3" name="Image 1" descr="gen-dedup-43aefdb68593d6eb40fa2770a310e27f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7810805" y="0"/>
            <a:ext cx="75895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88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/ 2026</a:t>
            </a:r>
            <a:endParaRPr lang="en-US" sz="1200"/>
          </a:p>
        </p:txBody>
      </p:sp>
      <p:sp>
        <p:nvSpPr>
          <p:cNvPr id="5" name="Text 1"/>
          <p:cNvSpPr txBox="1"/>
          <p:nvPr/>
        </p:nvSpPr>
        <p:spPr>
          <a:xfrm>
            <a:off x="914400" y="8572500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cat .github/README.md</a:t>
            </a:r>
            <a:endParaRPr lang="en-US" sz="1100"/>
          </a:p>
        </p:txBody>
      </p:sp>
      <p:sp>
        <p:nvSpPr>
          <p:cNvPr id="6" name="Text 2"/>
          <p:cNvSpPr txBox="1"/>
          <p:nvPr/>
        </p:nvSpPr>
        <p:spPr>
          <a:xfrm>
            <a:off x="914400" y="8844077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AI駆動業務ハンズオン</a:t>
            </a:r>
            <a:endParaRPr lang="en-US" sz="1100"/>
          </a:p>
        </p:txBody>
      </p:sp>
      <p:sp>
        <p:nvSpPr>
          <p:cNvPr id="7" name="Text 3"/>
          <p:cNvSpPr txBox="1"/>
          <p:nvPr/>
        </p:nvSpPr>
        <p:spPr>
          <a:xfrm>
            <a:off x="914400" y="9115654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2026-06-23</a:t>
            </a:r>
            <a:endParaRPr lang="en-US" sz="1100"/>
          </a:p>
        </p:txBody>
      </p:sp>
      <p:sp>
        <p:nvSpPr>
          <p:cNvPr id="8" name="Text 4"/>
          <p:cNvSpPr txBox="1"/>
          <p:nvPr/>
        </p:nvSpPr>
        <p:spPr>
          <a:xfrm>
            <a:off x="8572500" y="2667305"/>
            <a:ext cx="89538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92">
                <a:solidFill>
                  <a:srgbClr val="0969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AI-DRIVEN WORK</a:t>
            </a:r>
            <a:endParaRPr lang="en-US" sz="2400"/>
          </a:p>
        </p:txBody>
      </p:sp>
      <p:sp>
        <p:nvSpPr>
          <p:cNvPr id="9" name="Text 5"/>
          <p:cNvSpPr txBox="1"/>
          <p:nvPr/>
        </p:nvSpPr>
        <p:spPr>
          <a:xfrm>
            <a:off x="8572500" y="3305556"/>
            <a:ext cx="8953805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72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AI駆動で、</a:t>
            </a:r>
            <a:endParaRPr lang="en-US" sz="7200"/>
          </a:p>
          <a:p>
            <a:pPr marL="0" indent="0" algn="l">
              <a:buNone/>
            </a:pPr>
            <a:r>
              <a:rPr lang="en-US" sz="7200" b="1" kern="0" spc="-72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業務をやる。</a:t>
            </a:r>
            <a:endParaRPr lang="en-US" sz="7200"/>
          </a:p>
        </p:txBody>
      </p:sp>
      <p:pic>
        <p:nvPicPr>
          <p:cNvPr id="10" name="Image 2" descr="gen-dedup-2075a4a10ead3d7f9244d4415fbb6c0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8572500" y="5905195"/>
            <a:ext cx="761695" cy="384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72500" y="6210605"/>
            <a:ext cx="8953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「開発」を超えて、すべての業務をAI駆動に。</a:t>
            </a:r>
            <a:endParaRPr lang="en-US" sz="2100"/>
          </a:p>
        </p:txBody>
      </p:sp>
      <p:sp>
        <p:nvSpPr>
          <p:cNvPr id="12" name="Text 7"/>
          <p:cNvSpPr txBox="1"/>
          <p:nvPr/>
        </p:nvSpPr>
        <p:spPr>
          <a:xfrm>
            <a:off x="8572500" y="6789420"/>
            <a:ext cx="8953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Skill / Instruction / Hook ハンズオン</a:t>
            </a:r>
            <a:endParaRPr lang="en-US" sz="1600"/>
          </a:p>
        </p:txBody>
      </p:sp>
      <p:sp>
        <p:nvSpPr>
          <p:cNvPr id="13" name="Shape 8"/>
          <p:cNvSpPr/>
          <p:nvPr/>
        </p:nvSpPr>
        <p:spPr>
          <a:xfrm>
            <a:off x="8572500" y="8572500"/>
            <a:ext cx="1485900" cy="276149"/>
          </a:xfrm>
          <a:prstGeom prst="roundRect">
            <a:avLst>
              <a:gd name="adj" fmla="val 50000"/>
            </a:avLst>
          </a:prstGeom>
          <a:solidFill>
            <a:srgbClr val="F1F8FF"/>
          </a:solidFill>
          <a:ln w="12700">
            <a:solidFill>
              <a:srgbClr val="DD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8572500" y="8572500"/>
            <a:ext cx="14859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38100" rIns="139700" bIns="38100" rtlCol="0" anchor="ctr"/>
          <a:lstStyle/>
          <a:p>
            <a:pPr marL="0" indent="0" algn="ctr">
              <a:buNone/>
            </a:pPr>
            <a:r>
              <a:rPr lang="en-US" sz="1000" kern="0" spc="42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Copilot</a:t>
            </a:r>
            <a:endParaRPr lang="en-US" sz="1000"/>
          </a:p>
        </p:txBody>
      </p:sp>
      <p:sp>
        <p:nvSpPr>
          <p:cNvPr id="15" name="Text 10"/>
          <p:cNvSpPr txBox="1"/>
          <p:nvPr/>
        </p:nvSpPr>
        <p:spPr>
          <a:xfrm>
            <a:off x="10167214" y="8596274"/>
            <a:ext cx="7717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主要ツール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381805"/>
            <a:ext cx="8134502" cy="4953305"/>
          </a:xfrm>
          <a:prstGeom prst="roundRect">
            <a:avLst>
              <a:gd name="adj" fmla="val 230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201607" y="4381805"/>
            <a:ext cx="8134502" cy="4953305"/>
          </a:xfrm>
          <a:prstGeom prst="roundRect">
            <a:avLst>
              <a:gd name="adj" fmla="val 230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gen-dedup-822e33f52594f75e426bdbca2cd44dd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14400" y="4381805"/>
            <a:ext cx="57607" cy="4953305"/>
          </a:xfrm>
          <a:prstGeom prst="rect">
            <a:avLst/>
          </a:prstGeom>
        </p:spPr>
      </p:pic>
      <p:pic>
        <p:nvPicPr>
          <p:cNvPr id="6" name="Image 2" descr="gen-dedup-822e33f52594f75e426bdbca2cd44dd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201607" y="4381805"/>
            <a:ext cx="57607" cy="49533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14400" y="7616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 / 全体像</a:t>
            </a:r>
            <a:endParaRPr lang="en-US" sz="1200"/>
          </a:p>
        </p:txBody>
      </p:sp>
      <p:sp>
        <p:nvSpPr>
          <p:cNvPr id="8" name="Text 3"/>
          <p:cNvSpPr txBox="1"/>
          <p:nvPr/>
        </p:nvSpPr>
        <p:spPr>
          <a:xfrm>
            <a:off x="914400" y="1104595"/>
            <a:ext cx="8572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本日の流れ</a:t>
            </a:r>
            <a:endParaRPr lang="en-US" sz="4800"/>
          </a:p>
        </p:txBody>
      </p:sp>
      <p:sp>
        <p:nvSpPr>
          <p:cNvPr id="9" name="Text 4"/>
          <p:cNvSpPr txBox="1"/>
          <p:nvPr/>
        </p:nvSpPr>
        <p:spPr>
          <a:xfrm>
            <a:off x="914400" y="2514600"/>
            <a:ext cx="16383305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60"/>
              </a:lnSpc>
            </a:pPr>
            <a:r>
              <a:rPr lang="en-US" altLang="ja-JP" sz="2400" err="1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座学で「なぜ・何を」を揃え、実践で「どうやって」を一周する</a:t>
            </a:r>
            <a:r>
              <a:rPr lang="en-US" altLang="ja-JP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400"/>
          </a:p>
        </p:txBody>
      </p:sp>
      <p:sp>
        <p:nvSpPr>
          <p:cNvPr id="10" name="Text 5"/>
          <p:cNvSpPr txBox="1"/>
          <p:nvPr/>
        </p:nvSpPr>
        <p:spPr>
          <a:xfrm>
            <a:off x="1295705" y="4800600"/>
            <a:ext cx="7372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— 座学</a:t>
            </a:r>
            <a:endParaRPr lang="en-US" sz="1000"/>
          </a:p>
        </p:txBody>
      </p:sp>
      <p:sp>
        <p:nvSpPr>
          <p:cNvPr id="11" name="Text 6"/>
          <p:cNvSpPr txBox="1"/>
          <p:nvPr/>
        </p:nvSpPr>
        <p:spPr>
          <a:xfrm>
            <a:off x="1295705" y="5105095"/>
            <a:ext cx="73728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AI駆動の“思想”を揃える</a:t>
            </a:r>
            <a:endParaRPr lang="en-US" sz="3000"/>
          </a:p>
        </p:txBody>
      </p:sp>
      <p:pic>
        <p:nvPicPr>
          <p:cNvPr id="12" name="Image 3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295705" y="5829300"/>
            <a:ext cx="457200" cy="2834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95705" y="6010351"/>
            <a:ext cx="7372807" cy="198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AI駆動のこれから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AI活用スタイルの変遷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3回やったらAI化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Agent / Skill / Instruction / Hook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GitHub Copilot 向けリポジトリ構成</a:t>
            </a:r>
            <a:endParaRPr lang="en-US" sz="1500"/>
          </a:p>
        </p:txBody>
      </p:sp>
      <p:sp>
        <p:nvSpPr>
          <p:cNvPr id="14" name="Text 8"/>
          <p:cNvSpPr txBox="1"/>
          <p:nvPr/>
        </p:nvSpPr>
        <p:spPr>
          <a:xfrm>
            <a:off x="1295705" y="8257946"/>
            <a:ext cx="73728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目安: 5トピック</a:t>
            </a:r>
            <a:endParaRPr lang="en-US" sz="1100"/>
          </a:p>
        </p:txBody>
      </p:sp>
      <p:sp>
        <p:nvSpPr>
          <p:cNvPr id="15" name="Text 9"/>
          <p:cNvSpPr txBox="1"/>
          <p:nvPr/>
        </p:nvSpPr>
        <p:spPr>
          <a:xfrm>
            <a:off x="9581998" y="4800600"/>
            <a:ext cx="7372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— 実践</a:t>
            </a:r>
            <a:endParaRPr lang="en-US" sz="1000"/>
          </a:p>
        </p:txBody>
      </p:sp>
      <p:sp>
        <p:nvSpPr>
          <p:cNvPr id="16" name="Text 10"/>
          <p:cNvSpPr txBox="1"/>
          <p:nvPr/>
        </p:nvSpPr>
        <p:spPr>
          <a:xfrm>
            <a:off x="9581998" y="5105095"/>
            <a:ext cx="73728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Copilotで一周回す</a:t>
            </a:r>
            <a:endParaRPr lang="en-US" sz="3000"/>
          </a:p>
        </p:txBody>
      </p:sp>
      <p:pic>
        <p:nvPicPr>
          <p:cNvPr id="17" name="Image 4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9581998" y="5829300"/>
            <a:ext cx="457200" cy="2834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581998" y="6010351"/>
            <a:ext cx="7372807" cy="198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棚卸し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リポジトリを用意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課題整理 → 一括生成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デモを実行</a:t>
            </a:r>
            <a:endParaRPr lang="en-US" sz="1500"/>
          </a:p>
          <a:p>
            <a:pPr marL="0" indent="0" algn="l">
              <a:lnSpc>
                <a:spcPts val="3000"/>
              </a:lnSpc>
              <a:buNone/>
            </a:pPr>
            <a:r>
              <a:rPr lang="en-US" sz="15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改善issueを起票</a:t>
            </a:r>
            <a:endParaRPr lang="en-US" sz="1500"/>
          </a:p>
        </p:txBody>
      </p:sp>
      <p:sp>
        <p:nvSpPr>
          <p:cNvPr id="19" name="Text 12"/>
          <p:cNvSpPr txBox="1"/>
          <p:nvPr/>
        </p:nvSpPr>
        <p:spPr>
          <a:xfrm>
            <a:off x="9581998" y="8257946"/>
            <a:ext cx="73728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err="1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目安</a:t>
            </a:r>
            <a:r>
              <a:rPr lang="en-US" sz="14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ja-JP" altLang="en-US" sz="14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上記の</a:t>
            </a:r>
            <a:r>
              <a:rPr lang="en-US" sz="14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loopを1周</a:t>
            </a:r>
            <a:endParaRPr lang="en-US" sz="1400"/>
          </a:p>
        </p:txBody>
      </p:sp>
      <p:sp>
        <p:nvSpPr>
          <p:cNvPr id="20" name="Text 1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21" name="Text 1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31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3" name="Image 1" descr="gen-dedup-d9232119751b02359680d9981372b4b1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914400" y="3524098"/>
            <a:ext cx="16383305" cy="26673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前提・本日の進め方 / 01</a:t>
            </a:r>
            <a:endParaRPr lang="en-US" sz="1100"/>
          </a:p>
        </p:txBody>
      </p:sp>
      <p:sp>
        <p:nvSpPr>
          <p:cNvPr id="5" name="Text 1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本日の目的</a:t>
            </a:r>
            <a:endParaRPr lang="en-US" sz="4800"/>
          </a:p>
        </p:txBody>
      </p:sp>
      <p:sp>
        <p:nvSpPr>
          <p:cNvPr id="6" name="Text 2"/>
          <p:cNvSpPr txBox="1"/>
          <p:nvPr/>
        </p:nvSpPr>
        <p:spPr>
          <a:xfrm>
            <a:off x="914400" y="2381098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本日は、自分の作業を</a:t>
            </a:r>
            <a:r>
              <a:rPr lang="en-US" altLang="ja-JP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ja-JP" altLang="en-US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に任せるやり方を</a:t>
            </a:r>
            <a:r>
              <a:rPr lang="en-US" altLang="ja-JP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sz="2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つ体験する。持ち帰って、他の作業にも広げていく。</a:t>
            </a:r>
            <a:endParaRPr lang="en-US" sz="2400"/>
          </a:p>
        </p:txBody>
      </p:sp>
      <p:sp>
        <p:nvSpPr>
          <p:cNvPr id="7" name="Text 3"/>
          <p:cNvSpPr txBox="1"/>
          <p:nvPr/>
        </p:nvSpPr>
        <p:spPr>
          <a:xfrm>
            <a:off x="1429207" y="3905402"/>
            <a:ext cx="15430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MESSAGE</a:t>
            </a:r>
            <a:endParaRPr lang="en-US" sz="1200"/>
          </a:p>
        </p:txBody>
      </p:sp>
      <p:sp>
        <p:nvSpPr>
          <p:cNvPr id="8" name="Text 4"/>
          <p:cNvSpPr txBox="1"/>
          <p:nvPr/>
        </p:nvSpPr>
        <p:spPr>
          <a:xfrm>
            <a:off x="2677363" y="4519421"/>
            <a:ext cx="15430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ja-JP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</a:t>
            </a:r>
            <a:r>
              <a:rPr lang="ja-JP" altLang="en-US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自分の作業を</a:t>
            </a:r>
            <a:r>
              <a:rPr lang="en-US" altLang="ja-JP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ja-JP" altLang="en-US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に任せる型</a:t>
            </a:r>
            <a:r>
              <a:rPr lang="en-US" altLang="ja-JP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</a:t>
            </a:r>
            <a:r>
              <a:rPr lang="ja-JP" altLang="en-US" sz="4200" b="1" kern="0" spc="-42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を、持ち帰る</a:t>
            </a:r>
            <a:endParaRPr lang="en-US" sz="4200"/>
          </a:p>
        </p:txBody>
      </p:sp>
      <p:sp>
        <p:nvSpPr>
          <p:cNvPr id="9" name="Text 5"/>
          <p:cNvSpPr txBox="1"/>
          <p:nvPr/>
        </p:nvSpPr>
        <p:spPr>
          <a:xfrm>
            <a:off x="914400" y="6762902"/>
            <a:ext cx="3054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/>
          </a:p>
        </p:txBody>
      </p:sp>
      <p:sp>
        <p:nvSpPr>
          <p:cNvPr id="10" name="Text 6"/>
          <p:cNvSpPr txBox="1"/>
          <p:nvPr/>
        </p:nvSpPr>
        <p:spPr>
          <a:xfrm>
            <a:off x="1371600" y="6720840"/>
            <a:ext cx="4506163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AIを使って業務をしたい —</a:t>
            </a:r>
            <a:endParaRPr lang="en-US" sz="160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“開発”にとどまらず、すべての業務をAI駆動に。</a:t>
            </a:r>
            <a:endParaRPr lang="en-US" sz="1600"/>
          </a:p>
        </p:txBody>
      </p:sp>
      <p:sp>
        <p:nvSpPr>
          <p:cNvPr id="11" name="Text 7"/>
          <p:cNvSpPr txBox="1"/>
          <p:nvPr/>
        </p:nvSpPr>
        <p:spPr>
          <a:xfrm>
            <a:off x="914400" y="7623353"/>
            <a:ext cx="3054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/>
          </a:p>
        </p:txBody>
      </p:sp>
      <p:sp>
        <p:nvSpPr>
          <p:cNvPr id="12" name="Text 8"/>
          <p:cNvSpPr txBox="1"/>
          <p:nvPr/>
        </p:nvSpPr>
        <p:spPr>
          <a:xfrm>
            <a:off x="1371600" y="7581290"/>
            <a:ext cx="3915461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本日はloopを一周回して、</a:t>
            </a:r>
            <a:endParaRPr lang="en-US" sz="160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自分の作業をAI化する“型”を身につける。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9334195" y="6762902"/>
            <a:ext cx="3054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/>
          </a:p>
        </p:txBody>
      </p:sp>
      <p:sp>
        <p:nvSpPr>
          <p:cNvPr id="14" name="Text 10"/>
          <p:cNvSpPr txBox="1"/>
          <p:nvPr/>
        </p:nvSpPr>
        <p:spPr>
          <a:xfrm>
            <a:off x="9791395" y="6720840"/>
            <a:ext cx="2943454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持ち帰って自分のリポジトリで</a:t>
            </a:r>
            <a:endParaRPr lang="en-US" sz="160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loopを回し続けることが本番。</a:t>
            </a:r>
            <a:endParaRPr lang="en-US" sz="1600"/>
          </a:p>
        </p:txBody>
      </p:sp>
      <p:sp>
        <p:nvSpPr>
          <p:cNvPr id="15" name="Text 11"/>
          <p:cNvSpPr txBox="1"/>
          <p:nvPr/>
        </p:nvSpPr>
        <p:spPr>
          <a:xfrm>
            <a:off x="9334195" y="7623353"/>
            <a:ext cx="3054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/>
          </a:p>
        </p:txBody>
      </p:sp>
      <p:sp>
        <p:nvSpPr>
          <p:cNvPr id="16" name="Text 12"/>
          <p:cNvSpPr txBox="1"/>
          <p:nvPr/>
        </p:nvSpPr>
        <p:spPr>
          <a:xfrm>
            <a:off x="9791395" y="7581290"/>
            <a:ext cx="3696005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一足飛びではない — Instruction / Skill /</a:t>
            </a:r>
            <a:endParaRPr lang="en-US" sz="160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Hook を積み上げて到達する。</a:t>
            </a:r>
            <a:endParaRPr lang="en-US" sz="1600"/>
          </a:p>
        </p:txBody>
      </p:sp>
      <p:sp>
        <p:nvSpPr>
          <p:cNvPr id="17" name="Text 1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18" name="Text 1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31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619195"/>
            <a:ext cx="8134502" cy="457200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201607" y="3619195"/>
            <a:ext cx="8134502" cy="457200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8572500"/>
            <a:ext cx="16420795" cy="914400"/>
          </a:xfrm>
          <a:prstGeom prst="roundRect">
            <a:avLst>
              <a:gd name="adj" fmla="val 8300"/>
            </a:avLst>
          </a:prstGeom>
          <a:solidFill>
            <a:srgbClr val="FAFB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14400" y="3619195"/>
            <a:ext cx="57607" cy="4572000"/>
          </a:xfrm>
          <a:prstGeom prst="rect">
            <a:avLst/>
          </a:prstGeom>
        </p:spPr>
      </p:pic>
      <p:pic>
        <p:nvPicPr>
          <p:cNvPr id="7" name="Image 2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201607" y="3619195"/>
            <a:ext cx="57607" cy="4572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前提・本日の進め方 / 02</a:t>
            </a:r>
            <a:endParaRPr lang="en-US" sz="1100"/>
          </a:p>
        </p:txBody>
      </p:sp>
      <p:sp>
        <p:nvSpPr>
          <p:cNvPr id="9" name="Text 4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本日の対象者</a:t>
            </a:r>
            <a:endParaRPr lang="en-US" sz="4800"/>
          </a:p>
        </p:txBody>
      </p:sp>
      <p:sp>
        <p:nvSpPr>
          <p:cNvPr id="10" name="Text 5"/>
          <p:cNvSpPr txBox="1"/>
          <p:nvPr/>
        </p:nvSpPr>
        <p:spPr>
          <a:xfrm>
            <a:off x="914400" y="2381098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座学は全員共通。実践編は GitHub Copilot を前提に手を動かす。</a:t>
            </a:r>
            <a:endParaRPr lang="en-US" sz="1800"/>
          </a:p>
        </p:txBody>
      </p:sp>
      <p:sp>
        <p:nvSpPr>
          <p:cNvPr id="11" name="Shape 6"/>
          <p:cNvSpPr/>
          <p:nvPr/>
        </p:nvSpPr>
        <p:spPr>
          <a:xfrm>
            <a:off x="1295705" y="4000500"/>
            <a:ext cx="847649" cy="286207"/>
          </a:xfrm>
          <a:prstGeom prst="roundRect">
            <a:avLst>
              <a:gd name="adj" fmla="val 49840"/>
            </a:avLst>
          </a:prstGeom>
          <a:solidFill>
            <a:srgbClr val="F1F8FF"/>
          </a:solidFill>
          <a:ln w="12700">
            <a:solidFill>
              <a:srgbClr val="DD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1295705" y="4000500"/>
            <a:ext cx="84856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38100" rIns="139700" bIns="38100" rtlCol="0" anchor="ctr"/>
          <a:lstStyle/>
          <a:p>
            <a:pPr marL="0" indent="0" algn="ctr">
              <a:buNone/>
            </a:pPr>
            <a:r>
              <a:rPr lang="en-US" sz="1000" kern="0" spc="42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全員共通</a:t>
            </a:r>
            <a:endParaRPr lang="en-US" sz="1000"/>
          </a:p>
        </p:txBody>
      </p:sp>
      <p:sp>
        <p:nvSpPr>
          <p:cNvPr id="13" name="Text 8"/>
          <p:cNvSpPr txBox="1"/>
          <p:nvPr/>
        </p:nvSpPr>
        <p:spPr>
          <a:xfrm>
            <a:off x="1295705" y="4438498"/>
            <a:ext cx="7372807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座学編</a:t>
            </a:r>
            <a:endParaRPr lang="en-US" sz="3000"/>
          </a:p>
        </p:txBody>
      </p:sp>
      <p:pic>
        <p:nvPicPr>
          <p:cNvPr id="14" name="Image 3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295705" y="5219395"/>
            <a:ext cx="457200" cy="2834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95705" y="5477256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AI駆動業務の方向性と思想</a:t>
            </a:r>
            <a:endParaRPr lang="en-US" sz="1600"/>
          </a:p>
        </p:txBody>
      </p:sp>
      <p:sp>
        <p:nvSpPr>
          <p:cNvPr id="16" name="Text 10"/>
          <p:cNvSpPr txBox="1"/>
          <p:nvPr/>
        </p:nvSpPr>
        <p:spPr>
          <a:xfrm>
            <a:off x="1295705" y="5917082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効率化の仕組み：Agent / Skill / Instruction / Hook</a:t>
            </a:r>
            <a:endParaRPr lang="en-US" sz="1600"/>
          </a:p>
        </p:txBody>
      </p:sp>
      <p:sp>
        <p:nvSpPr>
          <p:cNvPr id="17" name="Text 11"/>
          <p:cNvSpPr txBox="1"/>
          <p:nvPr/>
        </p:nvSpPr>
        <p:spPr>
          <a:xfrm>
            <a:off x="1295705" y="6356909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AI資産をリポジトリに蓄積する考え方</a:t>
            </a:r>
            <a:endParaRPr lang="en-US" sz="1600"/>
          </a:p>
        </p:txBody>
      </p:sp>
      <p:sp>
        <p:nvSpPr>
          <p:cNvPr id="18" name="Shape 12"/>
          <p:cNvSpPr/>
          <p:nvPr/>
        </p:nvSpPr>
        <p:spPr>
          <a:xfrm>
            <a:off x="9581998" y="4000500"/>
            <a:ext cx="1990649" cy="286207"/>
          </a:xfrm>
          <a:prstGeom prst="roundRect">
            <a:avLst>
              <a:gd name="adj" fmla="val 49840"/>
            </a:avLst>
          </a:prstGeom>
          <a:solidFill>
            <a:srgbClr val="F1F8FF"/>
          </a:solidFill>
          <a:ln w="12700">
            <a:solidFill>
              <a:srgbClr val="DDF4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3"/>
          <p:cNvSpPr/>
          <p:nvPr/>
        </p:nvSpPr>
        <p:spPr>
          <a:xfrm>
            <a:off x="9581998" y="4000500"/>
            <a:ext cx="199156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38100" rIns="139700" bIns="38100" rtlCol="0" anchor="ctr"/>
          <a:lstStyle/>
          <a:p>
            <a:pPr marL="0" indent="0" algn="ctr">
              <a:buNone/>
            </a:pPr>
            <a:r>
              <a:rPr lang="en-US" sz="1000" kern="0" spc="42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Copilot 利用者</a:t>
            </a:r>
            <a:endParaRPr lang="en-US" sz="1000"/>
          </a:p>
        </p:txBody>
      </p:sp>
      <p:sp>
        <p:nvSpPr>
          <p:cNvPr id="20" name="Text 14"/>
          <p:cNvSpPr txBox="1"/>
          <p:nvPr/>
        </p:nvSpPr>
        <p:spPr>
          <a:xfrm>
            <a:off x="9581998" y="4438498"/>
            <a:ext cx="7372807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実践編</a:t>
            </a:r>
            <a:endParaRPr lang="en-US" sz="3000"/>
          </a:p>
        </p:txBody>
      </p:sp>
      <p:pic>
        <p:nvPicPr>
          <p:cNvPr id="21" name="Image 4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9581998" y="5219395"/>
            <a:ext cx="457200" cy="2834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581998" y="5477256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課題整理 → AIで一括生成</a:t>
            </a:r>
            <a:endParaRPr lang="en-US" sz="1600"/>
          </a:p>
        </p:txBody>
      </p:sp>
      <p:sp>
        <p:nvSpPr>
          <p:cNvPr id="23" name="Text 16"/>
          <p:cNvSpPr txBox="1"/>
          <p:nvPr/>
        </p:nvSpPr>
        <p:spPr>
          <a:xfrm>
            <a:off x="9581998" y="5917082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デモ実行 → 改善issueを起票</a:t>
            </a:r>
            <a:endParaRPr lang="en-US" sz="1600"/>
          </a:p>
        </p:txBody>
      </p:sp>
      <p:sp>
        <p:nvSpPr>
          <p:cNvPr id="24" name="Text 17"/>
          <p:cNvSpPr txBox="1"/>
          <p:nvPr/>
        </p:nvSpPr>
        <p:spPr>
          <a:xfrm>
            <a:off x="9581998" y="6356909"/>
            <a:ext cx="7372807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loopを一周回す</a:t>
            </a:r>
            <a:endParaRPr lang="en-US" sz="1600"/>
          </a:p>
        </p:txBody>
      </p:sp>
      <p:sp>
        <p:nvSpPr>
          <p:cNvPr id="25" name="Text 18"/>
          <p:cNvSpPr txBox="1"/>
          <p:nvPr/>
        </p:nvSpPr>
        <p:spPr>
          <a:xfrm>
            <a:off x="1238098" y="8762695"/>
            <a:ext cx="157734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Microsoft Copilot 利用者は座学の考え方を業務棚卸しに活用いただけます。</a:t>
            </a:r>
            <a:endParaRPr lang="en-US" sz="1300"/>
          </a:p>
        </p:txBody>
      </p:sp>
      <p:sp>
        <p:nvSpPr>
          <p:cNvPr id="26" name="Text 19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27" name="Text 20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31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619195"/>
            <a:ext cx="16420795" cy="1067105"/>
          </a:xfrm>
          <a:prstGeom prst="roundRect">
            <a:avLst>
              <a:gd name="adj" fmla="val 5398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3619195"/>
            <a:ext cx="57607" cy="10671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4858207"/>
            <a:ext cx="16420795" cy="1067105"/>
          </a:xfrm>
          <a:prstGeom prst="roundRect">
            <a:avLst>
              <a:gd name="adj" fmla="val 5398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4858207"/>
            <a:ext cx="57607" cy="10671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096305"/>
            <a:ext cx="16420795" cy="1067105"/>
          </a:xfrm>
          <a:prstGeom prst="roundRect">
            <a:avLst>
              <a:gd name="adj" fmla="val 5398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096305"/>
            <a:ext cx="57607" cy="10671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7334402"/>
            <a:ext cx="16420795" cy="1067105"/>
          </a:xfrm>
          <a:prstGeom prst="roundRect">
            <a:avLst>
              <a:gd name="adj" fmla="val 5398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7334402"/>
            <a:ext cx="57607" cy="10671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914400" y="8572500"/>
            <a:ext cx="16420795" cy="838505"/>
          </a:xfrm>
          <a:prstGeom prst="roundRect">
            <a:avLst>
              <a:gd name="adj" fmla="val 6870"/>
            </a:avLst>
          </a:prstGeom>
          <a:solidFill>
            <a:srgbClr val="FAFB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前提・本日の進め方 / 03</a:t>
            </a:r>
            <a:endParaRPr lang="en-US" sz="1100"/>
          </a:p>
        </p:txBody>
      </p:sp>
      <p:sp>
        <p:nvSpPr>
          <p:cNvPr id="13" name="Text 10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本日のアジェンダ</a:t>
            </a:r>
            <a:endParaRPr lang="en-US" sz="4800"/>
          </a:p>
        </p:txBody>
      </p:sp>
      <p:sp>
        <p:nvSpPr>
          <p:cNvPr id="14" name="Text 11"/>
          <p:cNvSpPr txBox="1"/>
          <p:nvPr/>
        </p:nvSpPr>
        <p:spPr>
          <a:xfrm>
            <a:off x="914400" y="2381098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座学で「なぜ・何を」を揃え、実践で「どうやって」を一周する。</a:t>
            </a:r>
            <a:endParaRPr lang="en-US" sz="1800"/>
          </a:p>
        </p:txBody>
      </p:sp>
      <p:sp>
        <p:nvSpPr>
          <p:cNvPr id="15" name="Text 12"/>
          <p:cNvSpPr txBox="1"/>
          <p:nvPr/>
        </p:nvSpPr>
        <p:spPr>
          <a:xfrm>
            <a:off x="1333195" y="3909974"/>
            <a:ext cx="134325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1–2</a:t>
            </a:r>
            <a:endParaRPr lang="en-US" sz="2400"/>
          </a:p>
        </p:txBody>
      </p:sp>
      <p:sp>
        <p:nvSpPr>
          <p:cNvPr id="16" name="Text 13"/>
          <p:cNvSpPr txBox="1"/>
          <p:nvPr/>
        </p:nvSpPr>
        <p:spPr>
          <a:xfrm>
            <a:off x="2980030" y="3810305"/>
            <a:ext cx="56299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AI駆動のこれから／AI活用スタイルの変遷</a:t>
            </a:r>
            <a:endParaRPr lang="en-US" sz="1800"/>
          </a:p>
        </p:txBody>
      </p:sp>
      <p:sp>
        <p:nvSpPr>
          <p:cNvPr id="17" name="Text 14"/>
          <p:cNvSpPr txBox="1"/>
          <p:nvPr/>
        </p:nvSpPr>
        <p:spPr>
          <a:xfrm>
            <a:off x="2980030" y="4200754"/>
            <a:ext cx="56299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「AIにコードを書かせる」から「AIに仕事を任せる」への流れを押さえる</a:t>
            </a:r>
            <a:endParaRPr lang="en-US" sz="1300"/>
          </a:p>
        </p:txBody>
      </p:sp>
      <p:sp>
        <p:nvSpPr>
          <p:cNvPr id="18" name="Text 15"/>
          <p:cNvSpPr txBox="1"/>
          <p:nvPr/>
        </p:nvSpPr>
        <p:spPr>
          <a:xfrm>
            <a:off x="1333195" y="5148072"/>
            <a:ext cx="1143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3</a:t>
            </a:r>
            <a:endParaRPr lang="en-US" sz="2400"/>
          </a:p>
        </p:txBody>
      </p:sp>
      <p:sp>
        <p:nvSpPr>
          <p:cNvPr id="19" name="Text 16"/>
          <p:cNvSpPr txBox="1"/>
          <p:nvPr/>
        </p:nvSpPr>
        <p:spPr>
          <a:xfrm>
            <a:off x="2781605" y="5048402"/>
            <a:ext cx="47722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「3回やったらAI化」— 繰り返し作業の棚卸し</a:t>
            </a:r>
            <a:endParaRPr lang="en-US" sz="1800"/>
          </a:p>
        </p:txBody>
      </p:sp>
      <p:sp>
        <p:nvSpPr>
          <p:cNvPr id="20" name="Text 17"/>
          <p:cNvSpPr txBox="1"/>
          <p:nvPr/>
        </p:nvSpPr>
        <p:spPr>
          <a:xfrm>
            <a:off x="2781605" y="5438851"/>
            <a:ext cx="4772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面倒を感じた瞬間がAI化のシグナル</a:t>
            </a:r>
            <a:endParaRPr lang="en-US" sz="1300"/>
          </a:p>
        </p:txBody>
      </p:sp>
      <p:sp>
        <p:nvSpPr>
          <p:cNvPr id="21" name="Text 18"/>
          <p:cNvSpPr txBox="1"/>
          <p:nvPr/>
        </p:nvSpPr>
        <p:spPr>
          <a:xfrm>
            <a:off x="1333195" y="6386170"/>
            <a:ext cx="134325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4–5</a:t>
            </a:r>
            <a:endParaRPr lang="en-US" sz="2400"/>
          </a:p>
        </p:txBody>
      </p:sp>
      <p:sp>
        <p:nvSpPr>
          <p:cNvPr id="22" name="Text 19"/>
          <p:cNvSpPr txBox="1"/>
          <p:nvPr/>
        </p:nvSpPr>
        <p:spPr>
          <a:xfrm>
            <a:off x="2980030" y="6286500"/>
            <a:ext cx="750448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err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仕組みと</a:t>
            </a: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GitHub Copilot 向けリポジトリ構成</a:t>
            </a:r>
            <a:endParaRPr lang="en-US" sz="1800"/>
          </a:p>
        </p:txBody>
      </p:sp>
      <p:sp>
        <p:nvSpPr>
          <p:cNvPr id="23" name="Text 20"/>
          <p:cNvSpPr txBox="1"/>
          <p:nvPr/>
        </p:nvSpPr>
        <p:spPr>
          <a:xfrm>
            <a:off x="2980030" y="6676949"/>
            <a:ext cx="71506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Skill / Instruction (Rule) / Hook を AI 設定ディレクトリに集約する</a:t>
            </a:r>
            <a:endParaRPr lang="en-US" sz="1300"/>
          </a:p>
        </p:txBody>
      </p:sp>
      <p:sp>
        <p:nvSpPr>
          <p:cNvPr id="24" name="Text 21"/>
          <p:cNvSpPr txBox="1"/>
          <p:nvPr/>
        </p:nvSpPr>
        <p:spPr>
          <a:xfrm>
            <a:off x="1333195" y="7625182"/>
            <a:ext cx="134325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1–5</a:t>
            </a:r>
            <a:endParaRPr lang="en-US" sz="2400"/>
          </a:p>
        </p:txBody>
      </p:sp>
      <p:sp>
        <p:nvSpPr>
          <p:cNvPr id="25" name="Text 22"/>
          <p:cNvSpPr txBox="1"/>
          <p:nvPr/>
        </p:nvSpPr>
        <p:spPr>
          <a:xfrm>
            <a:off x="2980030" y="7524598"/>
            <a:ext cx="63788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棚卸し → </a:t>
            </a:r>
            <a:r>
              <a:rPr lang="en-US" sz="1800" b="1" err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</a:t>
            </a:r>
            <a:r>
              <a:rPr lang="ja-JP" alt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の取得</a:t>
            </a: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対話・生成 → デモ → 改善issue</a:t>
            </a:r>
            <a:endParaRPr lang="en-US" sz="1800"/>
          </a:p>
        </p:txBody>
      </p:sp>
      <p:sp>
        <p:nvSpPr>
          <p:cNvPr id="26" name="Text 23"/>
          <p:cNvSpPr txBox="1"/>
          <p:nvPr/>
        </p:nvSpPr>
        <p:spPr>
          <a:xfrm>
            <a:off x="2980030" y="7915046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課題整理用カスタムエージェントを軸にloopを1周回す</a:t>
            </a:r>
            <a:endParaRPr lang="en-US" sz="1300"/>
          </a:p>
        </p:txBody>
      </p:sp>
      <p:sp>
        <p:nvSpPr>
          <p:cNvPr id="27" name="Text 24"/>
          <p:cNvSpPr txBox="1"/>
          <p:nvPr/>
        </p:nvSpPr>
        <p:spPr>
          <a:xfrm>
            <a:off x="1333195" y="8781898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</a:t>
            </a:r>
            <a:endParaRPr lang="en-US" sz="1800"/>
          </a:p>
        </p:txBody>
      </p:sp>
      <p:sp>
        <p:nvSpPr>
          <p:cNvPr id="28" name="Text 25"/>
          <p:cNvSpPr txBox="1"/>
          <p:nvPr/>
        </p:nvSpPr>
        <p:spPr>
          <a:xfrm>
            <a:off x="2781605" y="8796528"/>
            <a:ext cx="294162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利用者向け対応表</a:t>
            </a:r>
            <a:endParaRPr lang="en-US" sz="1500"/>
          </a:p>
        </p:txBody>
      </p:sp>
      <p:sp>
        <p:nvSpPr>
          <p:cNvPr id="29" name="Text 26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0" name="Text 27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31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07357af7ea665c5ba5cbc0d0975a90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LECTURE / 01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AI駆動開発の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7810805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「AIにコードを書かせる」段階は終わり、「AIに仕事を任せる」段階へ。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8096098" cy="2762402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277502" y="3810305"/>
            <a:ext cx="8096098" cy="2762402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6762902"/>
            <a:ext cx="8096098" cy="2762402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277502" y="6762902"/>
            <a:ext cx="8096098" cy="2762402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gen-dedup-399a93f8d68235e55b30d83b28e41d09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14400" y="3810305"/>
            <a:ext cx="57607" cy="2762402"/>
          </a:xfrm>
          <a:prstGeom prst="rect">
            <a:avLst/>
          </a:prstGeom>
        </p:spPr>
      </p:pic>
      <p:pic>
        <p:nvPicPr>
          <p:cNvPr id="8" name="Image 2" descr="gen-dedup-399a93f8d68235e55b30d83b28e41d09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277502" y="3810305"/>
            <a:ext cx="57607" cy="2762402"/>
          </a:xfrm>
          <a:prstGeom prst="rect">
            <a:avLst/>
          </a:prstGeom>
        </p:spPr>
      </p:pic>
      <p:pic>
        <p:nvPicPr>
          <p:cNvPr id="9" name="Image 3" descr="gen-dedup-399a93f8d68235e55b30d83b28e41d09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14400" y="6762902"/>
            <a:ext cx="57607" cy="2762402"/>
          </a:xfrm>
          <a:prstGeom prst="rect">
            <a:avLst/>
          </a:prstGeom>
        </p:spPr>
      </p:pic>
      <p:pic>
        <p:nvPicPr>
          <p:cNvPr id="10" name="Image 4" descr="gen-dedup-399a93f8d68235e55b30d83b28e41d09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277502" y="6762902"/>
            <a:ext cx="57607" cy="2762402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1 / AI駆動のこれから</a:t>
            </a:r>
            <a:endParaRPr lang="en-US" sz="1100"/>
          </a:p>
        </p:txBody>
      </p:sp>
      <p:sp>
        <p:nvSpPr>
          <p:cNvPr id="12" name="Text 5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AIに“タスクを完遂”させる時代へ</a:t>
            </a:r>
            <a:endParaRPr lang="en-US" sz="4800"/>
          </a:p>
        </p:txBody>
      </p:sp>
      <p:sp>
        <p:nvSpPr>
          <p:cNvPr id="13" name="Text 6"/>
          <p:cNvSpPr txBox="1"/>
          <p:nvPr/>
        </p:nvSpPr>
        <p:spPr>
          <a:xfrm>
            <a:off x="914400" y="2476195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対象は開発から全業務に広がり、人の役割は「実装者」から「AIに任せる設計者・レビュアー」へシフトする。</a:t>
            </a:r>
            <a:endParaRPr lang="en-US" sz="1800"/>
          </a:p>
        </p:txBody>
      </p:sp>
      <p:sp>
        <p:nvSpPr>
          <p:cNvPr id="14" name="Text 7"/>
          <p:cNvSpPr txBox="1"/>
          <p:nvPr/>
        </p:nvSpPr>
        <p:spPr>
          <a:xfrm>
            <a:off x="1295705" y="4114800"/>
            <a:ext cx="7334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AI生成</a:t>
            </a:r>
            <a:endParaRPr lang="en-US" sz="1200"/>
          </a:p>
        </p:txBody>
      </p:sp>
      <p:sp>
        <p:nvSpPr>
          <p:cNvPr id="15" name="Text 8"/>
          <p:cNvSpPr txBox="1"/>
          <p:nvPr/>
        </p:nvSpPr>
        <p:spPr>
          <a:xfrm>
            <a:off x="1295705" y="4496105"/>
            <a:ext cx="7334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AIによる生成は“当たり前”へ</a:t>
            </a:r>
            <a:endParaRPr lang="en-US" sz="2200"/>
          </a:p>
        </p:txBody>
      </p:sp>
      <p:pic>
        <p:nvPicPr>
          <p:cNvPr id="16" name="Image 5" descr="gen-dedup-728aa1254f5a15c6c2e90c11ff77f311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1295705" y="5048402"/>
            <a:ext cx="381305" cy="2834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95705" y="5229454"/>
            <a:ext cx="73344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文章・コード・資料の生成は既に日常。差がつくのは「何を任せるか」の設計と、そのための資産づくり。</a:t>
            </a:r>
            <a:endParaRPr lang="en-US" sz="1500"/>
          </a:p>
        </p:txBody>
      </p:sp>
      <p:sp>
        <p:nvSpPr>
          <p:cNvPr id="18" name="Text 10"/>
          <p:cNvSpPr txBox="1"/>
          <p:nvPr/>
        </p:nvSpPr>
        <p:spPr>
          <a:xfrm>
            <a:off x="9658807" y="4114800"/>
            <a:ext cx="7334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適用範囲</a:t>
            </a:r>
            <a:endParaRPr lang="en-US" sz="1200"/>
          </a:p>
        </p:txBody>
      </p:sp>
      <p:sp>
        <p:nvSpPr>
          <p:cNvPr id="19" name="Text 11"/>
          <p:cNvSpPr txBox="1"/>
          <p:nvPr/>
        </p:nvSpPr>
        <p:spPr>
          <a:xfrm>
            <a:off x="9658807" y="4496105"/>
            <a:ext cx="7334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 → 全業務へ拡大</a:t>
            </a:r>
            <a:endParaRPr lang="en-US" sz="2200"/>
          </a:p>
        </p:txBody>
      </p:sp>
      <p:pic>
        <p:nvPicPr>
          <p:cNvPr id="20" name="Image 6" descr="gen-dedup-728aa1254f5a15c6c2e90c11ff77f311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9658807" y="5048402"/>
            <a:ext cx="381305" cy="2834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658807" y="5229454"/>
            <a:ext cx="73344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調査・資料作成・運用・定型業務まで。繰り返しが多い作業ほど、AIに渡す価値が大きい。</a:t>
            </a:r>
            <a:endParaRPr lang="en-US" sz="1500"/>
          </a:p>
        </p:txBody>
      </p:sp>
      <p:sp>
        <p:nvSpPr>
          <p:cNvPr id="22" name="Text 13"/>
          <p:cNvSpPr txBox="1"/>
          <p:nvPr/>
        </p:nvSpPr>
        <p:spPr>
          <a:xfrm>
            <a:off x="1295705" y="7067398"/>
            <a:ext cx="7334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人の役割</a:t>
            </a:r>
            <a:endParaRPr lang="en-US" sz="1200"/>
          </a:p>
        </p:txBody>
      </p:sp>
      <p:sp>
        <p:nvSpPr>
          <p:cNvPr id="23" name="Text 14"/>
          <p:cNvSpPr txBox="1"/>
          <p:nvPr/>
        </p:nvSpPr>
        <p:spPr>
          <a:xfrm>
            <a:off x="1295705" y="7448702"/>
            <a:ext cx="7334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実装者から設計者・レビュアーへ</a:t>
            </a:r>
            <a:endParaRPr lang="en-US" sz="2200"/>
          </a:p>
        </p:txBody>
      </p:sp>
      <p:pic>
        <p:nvPicPr>
          <p:cNvPr id="24" name="Image 7" descr="gen-dedup-728aa1254f5a15c6c2e90c11ff77f311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1295705" y="8001000"/>
            <a:ext cx="381305" cy="2834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295705" y="8182051"/>
            <a:ext cx="73344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「どう書くか」より「何を任せ、どう確かめるか」。フローそのものを設計する側に立つ。</a:t>
            </a:r>
            <a:endParaRPr lang="en-US" sz="1500"/>
          </a:p>
        </p:txBody>
      </p:sp>
      <p:sp>
        <p:nvSpPr>
          <p:cNvPr id="26" name="Text 16"/>
          <p:cNvSpPr txBox="1"/>
          <p:nvPr/>
        </p:nvSpPr>
        <p:spPr>
          <a:xfrm>
            <a:off x="9658807" y="7067398"/>
            <a:ext cx="7334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勝ち筋</a:t>
            </a:r>
            <a:endParaRPr lang="en-US" sz="1200"/>
          </a:p>
        </p:txBody>
      </p:sp>
      <p:sp>
        <p:nvSpPr>
          <p:cNvPr id="27" name="Text 17"/>
          <p:cNvSpPr txBox="1"/>
          <p:nvPr/>
        </p:nvSpPr>
        <p:spPr>
          <a:xfrm>
            <a:off x="9658807" y="7448702"/>
            <a:ext cx="7334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“仕組み化”が効く</a:t>
            </a:r>
            <a:endParaRPr lang="en-US" sz="2200"/>
          </a:p>
        </p:txBody>
      </p:sp>
      <p:pic>
        <p:nvPicPr>
          <p:cNvPr id="28" name="Image 8" descr="gen-dedup-728aa1254f5a15c6c2e90c11ff77f311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9658807" y="8001000"/>
            <a:ext cx="381305" cy="2834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658807" y="8182051"/>
            <a:ext cx="73344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一度作れば何度でも効く資産（Skill / Instruction (Rule) / Agent / Hook）を積み上げる。</a:t>
            </a:r>
            <a:endParaRPr lang="en-US" sz="1500"/>
          </a:p>
        </p:txBody>
      </p:sp>
      <p:sp>
        <p:nvSpPr>
          <p:cNvPr id="30" name="Text 19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1" name="Text 20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31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07357af7ea665c5ba5cbc0d0975a90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LECTURE / 02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開発スタイルの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変遷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7810805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手書き → 補完 → エージェント駆動 → loop駆動。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3905402" cy="45720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5086807" y="3810305"/>
            <a:ext cx="3905402" cy="45720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258300" y="3810305"/>
            <a:ext cx="3905402" cy="45720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13430707" y="3810305"/>
            <a:ext cx="3905402" cy="45720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14400" y="3810305"/>
            <a:ext cx="57607" cy="4572000"/>
          </a:xfrm>
          <a:prstGeom prst="rect">
            <a:avLst/>
          </a:prstGeom>
        </p:spPr>
      </p:pic>
      <p:pic>
        <p:nvPicPr>
          <p:cNvPr id="8" name="Image 2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5086807" y="3810305"/>
            <a:ext cx="57607" cy="4572000"/>
          </a:xfrm>
          <a:prstGeom prst="rect">
            <a:avLst/>
          </a:prstGeom>
        </p:spPr>
      </p:pic>
      <p:pic>
        <p:nvPicPr>
          <p:cNvPr id="9" name="Image 3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258300" y="3810305"/>
            <a:ext cx="57607" cy="4572000"/>
          </a:xfrm>
          <a:prstGeom prst="rect">
            <a:avLst/>
          </a:prstGeom>
        </p:spPr>
      </p:pic>
      <p:pic>
        <p:nvPicPr>
          <p:cNvPr id="10" name="Image 4" descr="gen-dedup-bcc34f15d31aeffa34cdce439d592cc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3430707" y="3810305"/>
            <a:ext cx="57607" cy="45720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2 / AI活用スタイルの変遷</a:t>
            </a:r>
            <a:endParaRPr lang="en-US" sz="1100"/>
          </a:p>
        </p:txBody>
      </p:sp>
      <p:sp>
        <p:nvSpPr>
          <p:cNvPr id="12" name="Text 5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人の関与は“やる”から“設計する”へ</a:t>
            </a:r>
            <a:endParaRPr lang="en-US" sz="4800"/>
          </a:p>
        </p:txBody>
      </p:sp>
      <p:sp>
        <p:nvSpPr>
          <p:cNvPr id="13" name="Text 6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4段階の変遷。今日のゴールは「loop駆動」の入り口に立つこと。</a:t>
            </a:r>
            <a:endParaRPr lang="en-US" sz="1600"/>
          </a:p>
        </p:txBody>
      </p:sp>
      <p:sp>
        <p:nvSpPr>
          <p:cNvPr id="14" name="Text 7"/>
          <p:cNvSpPr txBox="1"/>
          <p:nvPr/>
        </p:nvSpPr>
        <p:spPr>
          <a:xfrm>
            <a:off x="1295705" y="4114800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200"/>
          </a:p>
        </p:txBody>
      </p:sp>
      <p:sp>
        <p:nvSpPr>
          <p:cNvPr id="15" name="Text 8"/>
          <p:cNvSpPr txBox="1"/>
          <p:nvPr/>
        </p:nvSpPr>
        <p:spPr>
          <a:xfrm>
            <a:off x="1295705" y="4876495"/>
            <a:ext cx="31437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手動</a:t>
            </a:r>
            <a:endParaRPr lang="en-US" sz="2200"/>
          </a:p>
        </p:txBody>
      </p:sp>
      <p:pic>
        <p:nvPicPr>
          <p:cNvPr id="16" name="Image 5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1295705" y="5447995"/>
            <a:ext cx="304495" cy="2834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95705" y="5581498"/>
            <a:ext cx="31437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人が全部やる。</a:t>
            </a:r>
            <a:endParaRPr lang="en-US" sz="15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AIは介在しない。</a:t>
            </a:r>
            <a:endParaRPr lang="en-US" sz="1500"/>
          </a:p>
        </p:txBody>
      </p:sp>
      <p:sp>
        <p:nvSpPr>
          <p:cNvPr id="18" name="Text 10"/>
          <p:cNvSpPr txBox="1"/>
          <p:nvPr/>
        </p:nvSpPr>
        <p:spPr>
          <a:xfrm>
            <a:off x="1295705" y="6505956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主役: 人</a:t>
            </a:r>
            <a:endParaRPr lang="en-US" sz="1000"/>
          </a:p>
        </p:txBody>
      </p:sp>
      <p:sp>
        <p:nvSpPr>
          <p:cNvPr id="19" name="Text 11"/>
          <p:cNvSpPr txBox="1"/>
          <p:nvPr/>
        </p:nvSpPr>
        <p:spPr>
          <a:xfrm>
            <a:off x="5467198" y="4114800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200"/>
          </a:p>
        </p:txBody>
      </p:sp>
      <p:sp>
        <p:nvSpPr>
          <p:cNvPr id="20" name="Text 12"/>
          <p:cNvSpPr txBox="1"/>
          <p:nvPr/>
        </p:nvSpPr>
        <p:spPr>
          <a:xfrm>
            <a:off x="5467198" y="4876495"/>
            <a:ext cx="31437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</a:t>
            </a:r>
            <a:endParaRPr lang="en-US" sz="2200"/>
          </a:p>
        </p:txBody>
      </p:sp>
      <p:pic>
        <p:nvPicPr>
          <p:cNvPr id="21" name="Image 6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5467198" y="5447995"/>
            <a:ext cx="304495" cy="2834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67198" y="5581498"/>
            <a:ext cx="31437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AIが部分提案。</a:t>
            </a:r>
            <a:endParaRPr lang="en-US" sz="15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人が主役、AIは助手。</a:t>
            </a:r>
            <a:endParaRPr lang="en-US" sz="1500"/>
          </a:p>
        </p:txBody>
      </p:sp>
      <p:sp>
        <p:nvSpPr>
          <p:cNvPr id="23" name="Text 14"/>
          <p:cNvSpPr txBox="1"/>
          <p:nvPr/>
        </p:nvSpPr>
        <p:spPr>
          <a:xfrm>
            <a:off x="5467198" y="6505956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主役: 人</a:t>
            </a:r>
            <a:endParaRPr lang="en-US" sz="1000"/>
          </a:p>
        </p:txBody>
      </p:sp>
      <p:sp>
        <p:nvSpPr>
          <p:cNvPr id="24" name="Text 15"/>
          <p:cNvSpPr txBox="1"/>
          <p:nvPr/>
        </p:nvSpPr>
        <p:spPr>
          <a:xfrm>
            <a:off x="9639605" y="4114800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200"/>
          </a:p>
        </p:txBody>
      </p:sp>
      <p:sp>
        <p:nvSpPr>
          <p:cNvPr id="25" name="Text 16"/>
          <p:cNvSpPr txBox="1"/>
          <p:nvPr/>
        </p:nvSpPr>
        <p:spPr>
          <a:xfrm>
            <a:off x="9639605" y="4876495"/>
            <a:ext cx="31437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エージェント駆動</a:t>
            </a:r>
            <a:endParaRPr lang="en-US" sz="2200"/>
          </a:p>
        </p:txBody>
      </p:sp>
      <p:pic>
        <p:nvPicPr>
          <p:cNvPr id="26" name="Image 7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9639605" y="5447995"/>
            <a:ext cx="304495" cy="2834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639605" y="5581498"/>
            <a:ext cx="31437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AIがタスク単位で実行。</a:t>
            </a:r>
            <a:endParaRPr lang="en-US" sz="15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人はレビュアー。</a:t>
            </a:r>
            <a:endParaRPr lang="en-US" sz="1500"/>
          </a:p>
        </p:txBody>
      </p:sp>
      <p:sp>
        <p:nvSpPr>
          <p:cNvPr id="28" name="Text 18"/>
          <p:cNvSpPr txBox="1"/>
          <p:nvPr/>
        </p:nvSpPr>
        <p:spPr>
          <a:xfrm>
            <a:off x="9639605" y="6505956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主役: AI＋人</a:t>
            </a:r>
            <a:endParaRPr lang="en-US" sz="1000"/>
          </a:p>
        </p:txBody>
      </p:sp>
      <p:sp>
        <p:nvSpPr>
          <p:cNvPr id="29" name="Text 19"/>
          <p:cNvSpPr txBox="1"/>
          <p:nvPr/>
        </p:nvSpPr>
        <p:spPr>
          <a:xfrm>
            <a:off x="13811098" y="4114800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200"/>
          </a:p>
        </p:txBody>
      </p:sp>
      <p:sp>
        <p:nvSpPr>
          <p:cNvPr id="30" name="Text 20"/>
          <p:cNvSpPr txBox="1"/>
          <p:nvPr/>
        </p:nvSpPr>
        <p:spPr>
          <a:xfrm>
            <a:off x="13811098" y="4876495"/>
            <a:ext cx="31437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loop駆動</a:t>
            </a:r>
            <a:endParaRPr lang="en-US" sz="2200"/>
          </a:p>
        </p:txBody>
      </p:sp>
      <p:pic>
        <p:nvPicPr>
          <p:cNvPr id="31" name="Image 8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13811098" y="5447995"/>
            <a:ext cx="304495" cy="2834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3811098" y="5629046"/>
            <a:ext cx="31437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課題→生成→検証→改善の輪をAIが回す。人は輪を設計する。</a:t>
            </a:r>
            <a:endParaRPr lang="en-US" sz="1500"/>
          </a:p>
        </p:txBody>
      </p:sp>
      <p:sp>
        <p:nvSpPr>
          <p:cNvPr id="33" name="Text 22"/>
          <p:cNvSpPr txBox="1"/>
          <p:nvPr/>
        </p:nvSpPr>
        <p:spPr>
          <a:xfrm>
            <a:off x="13811098" y="6505956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主役: AI（人が設計）</a:t>
            </a:r>
            <a:endParaRPr lang="en-US" sz="1000"/>
          </a:p>
        </p:txBody>
      </p:sp>
      <p:sp>
        <p:nvSpPr>
          <p:cNvPr id="34" name="Text 23"/>
          <p:cNvSpPr txBox="1"/>
          <p:nvPr/>
        </p:nvSpPr>
        <p:spPr>
          <a:xfrm>
            <a:off x="914400" y="8762695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</a:t>
            </a:r>
            <a:r>
              <a:rPr lang="en-US" sz="15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本日は 03 の型を身につけ、04 の入り口まで到達する。</a:t>
            </a:r>
            <a:endParaRPr lang="en-US" sz="1500"/>
          </a:p>
        </p:txBody>
      </p:sp>
      <p:sp>
        <p:nvSpPr>
          <p:cNvPr id="35" name="Text 24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6" name="Text 25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31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07357af7ea665c5ba5cbc0d0975a90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LECTURE / 03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3回やったら、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AI化。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7905902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繰り返し作業の棚卸しが、loopの燃料になる。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3" name="Image 1" descr="gen-dedup-4a4cf3a7cb570f974343f5b863719b2b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14400" y="2762402"/>
            <a:ext cx="16383305" cy="2286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6096305"/>
            <a:ext cx="8001000" cy="1429207"/>
          </a:xfrm>
          <a:prstGeom prst="roundRect">
            <a:avLst>
              <a:gd name="adj" fmla="val 403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1"/>
          <p:cNvSpPr/>
          <p:nvPr/>
        </p:nvSpPr>
        <p:spPr>
          <a:xfrm>
            <a:off x="914400" y="6096305"/>
            <a:ext cx="57607" cy="1429207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/>
          <p:cNvSpPr/>
          <p:nvPr/>
        </p:nvSpPr>
        <p:spPr>
          <a:xfrm>
            <a:off x="9334195" y="6096305"/>
            <a:ext cx="8001000" cy="1429207"/>
          </a:xfrm>
          <a:prstGeom prst="roundRect">
            <a:avLst>
              <a:gd name="adj" fmla="val 403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3"/>
          <p:cNvSpPr/>
          <p:nvPr/>
        </p:nvSpPr>
        <p:spPr>
          <a:xfrm>
            <a:off x="9334195" y="6096305"/>
            <a:ext cx="57607" cy="1429207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914400" y="7715707"/>
            <a:ext cx="8001000" cy="1429207"/>
          </a:xfrm>
          <a:prstGeom prst="roundRect">
            <a:avLst>
              <a:gd name="adj" fmla="val 403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5"/>
          <p:cNvSpPr/>
          <p:nvPr/>
        </p:nvSpPr>
        <p:spPr>
          <a:xfrm>
            <a:off x="914400" y="7715707"/>
            <a:ext cx="57607" cy="1429207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9334195" y="7715707"/>
            <a:ext cx="8001000" cy="1429207"/>
          </a:xfrm>
          <a:prstGeom prst="roundRect">
            <a:avLst>
              <a:gd name="adj" fmla="val 403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9334195" y="7715707"/>
            <a:ext cx="57607" cy="1429207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3 / 3回やったらAI化</a:t>
            </a:r>
            <a:endParaRPr lang="en-US" sz="1100"/>
          </a:p>
        </p:txBody>
      </p:sp>
      <p:sp>
        <p:nvSpPr>
          <p:cNvPr id="13" name="Text 9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「面倒」を感じた瞬間が、AI化のシグナル</a:t>
            </a:r>
            <a:endParaRPr lang="en-US" sz="4800"/>
          </a:p>
        </p:txBody>
      </p:sp>
      <p:sp>
        <p:nvSpPr>
          <p:cNvPr id="14" name="Text 10"/>
          <p:cNvSpPr txBox="1"/>
          <p:nvPr/>
        </p:nvSpPr>
        <p:spPr>
          <a:xfrm>
            <a:off x="1429207" y="3143707"/>
            <a:ext cx="15430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MESSAGE</a:t>
            </a:r>
            <a:endParaRPr lang="en-US" sz="1200"/>
          </a:p>
        </p:txBody>
      </p:sp>
      <p:sp>
        <p:nvSpPr>
          <p:cNvPr id="15" name="Text 11"/>
          <p:cNvSpPr txBox="1"/>
          <p:nvPr/>
        </p:nvSpPr>
        <p:spPr>
          <a:xfrm>
            <a:off x="1429207" y="3495751"/>
            <a:ext cx="1543050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45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同じ作業を3回やったら、AI化しよう。</a:t>
            </a:r>
            <a:endParaRPr lang="en-US" sz="4500"/>
          </a:p>
        </p:txBody>
      </p:sp>
      <p:sp>
        <p:nvSpPr>
          <p:cNvPr id="16" name="Text 12"/>
          <p:cNvSpPr txBox="1"/>
          <p:nvPr/>
        </p:nvSpPr>
        <p:spPr>
          <a:xfrm>
            <a:off x="914400" y="5524805"/>
            <a:ext cx="16383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10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CHECKPOINTS</a:t>
            </a:r>
            <a:endParaRPr lang="en-US" sz="1000"/>
          </a:p>
        </p:txBody>
      </p:sp>
      <p:sp>
        <p:nvSpPr>
          <p:cNvPr id="17" name="Text 13"/>
          <p:cNvSpPr txBox="1"/>
          <p:nvPr/>
        </p:nvSpPr>
        <p:spPr>
          <a:xfrm>
            <a:off x="1295705" y="6324905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00"/>
          </a:p>
        </p:txBody>
      </p:sp>
      <p:sp>
        <p:nvSpPr>
          <p:cNvPr id="18" name="Text 14"/>
          <p:cNvSpPr txBox="1"/>
          <p:nvPr/>
        </p:nvSpPr>
        <p:spPr>
          <a:xfrm>
            <a:off x="1783080" y="6334049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繰り返しに気付く</a:t>
            </a:r>
            <a:endParaRPr lang="en-US" sz="1600"/>
          </a:p>
        </p:txBody>
      </p:sp>
      <p:sp>
        <p:nvSpPr>
          <p:cNvPr id="19" name="Text 15"/>
          <p:cNvSpPr txBox="1"/>
          <p:nvPr/>
        </p:nvSpPr>
        <p:spPr>
          <a:xfrm>
            <a:off x="1783080" y="6715354"/>
            <a:ext cx="41148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「手動で繰り返している作業はないか？」を常に問う</a:t>
            </a:r>
            <a:endParaRPr lang="en-US" sz="1300"/>
          </a:p>
        </p:txBody>
      </p:sp>
      <p:sp>
        <p:nvSpPr>
          <p:cNvPr id="20" name="Text 16"/>
          <p:cNvSpPr txBox="1"/>
          <p:nvPr/>
        </p:nvSpPr>
        <p:spPr>
          <a:xfrm>
            <a:off x="9715500" y="6324905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00"/>
          </a:p>
        </p:txBody>
      </p:sp>
      <p:sp>
        <p:nvSpPr>
          <p:cNvPr id="21" name="Text 17"/>
          <p:cNvSpPr txBox="1"/>
          <p:nvPr/>
        </p:nvSpPr>
        <p:spPr>
          <a:xfrm>
            <a:off x="10203790" y="6334049"/>
            <a:ext cx="52203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手順が固まっている</a:t>
            </a:r>
            <a:endParaRPr lang="en-US" sz="1600"/>
          </a:p>
        </p:txBody>
      </p:sp>
      <p:sp>
        <p:nvSpPr>
          <p:cNvPr id="22" name="Text 18"/>
          <p:cNvSpPr txBox="1"/>
          <p:nvPr/>
        </p:nvSpPr>
        <p:spPr>
          <a:xfrm>
            <a:off x="10203790" y="6715354"/>
            <a:ext cx="52203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3回以上やった作業は、既に仕組み化できるだけ手順が固まっている</a:t>
            </a:r>
            <a:endParaRPr lang="en-US" sz="1300"/>
          </a:p>
        </p:txBody>
      </p:sp>
      <p:sp>
        <p:nvSpPr>
          <p:cNvPr id="23" name="Text 19"/>
          <p:cNvSpPr txBox="1"/>
          <p:nvPr/>
        </p:nvSpPr>
        <p:spPr>
          <a:xfrm>
            <a:off x="1295705" y="7944307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00"/>
          </a:p>
        </p:txBody>
      </p:sp>
      <p:sp>
        <p:nvSpPr>
          <p:cNvPr id="24" name="Text 20"/>
          <p:cNvSpPr txBox="1"/>
          <p:nvPr/>
        </p:nvSpPr>
        <p:spPr>
          <a:xfrm>
            <a:off x="1783080" y="7953451"/>
            <a:ext cx="5296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AI化しやすい候補</a:t>
            </a:r>
            <a:endParaRPr lang="en-US" sz="1600"/>
          </a:p>
        </p:txBody>
      </p:sp>
      <p:sp>
        <p:nvSpPr>
          <p:cNvPr id="25" name="Text 21"/>
          <p:cNvSpPr txBox="1"/>
          <p:nvPr/>
        </p:nvSpPr>
        <p:spPr>
          <a:xfrm>
            <a:off x="1783080" y="8334756"/>
            <a:ext cx="52962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「面倒・毎回ググる・コピペ」が多い作業ほど、AI化の効果が大きい</a:t>
            </a:r>
            <a:endParaRPr lang="en-US" sz="1300"/>
          </a:p>
        </p:txBody>
      </p:sp>
      <p:sp>
        <p:nvSpPr>
          <p:cNvPr id="26" name="Text 22"/>
          <p:cNvSpPr txBox="1"/>
          <p:nvPr/>
        </p:nvSpPr>
        <p:spPr>
          <a:xfrm>
            <a:off x="9715500" y="7944307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00"/>
          </a:p>
        </p:txBody>
      </p:sp>
      <p:sp>
        <p:nvSpPr>
          <p:cNvPr id="27" name="Text 23"/>
          <p:cNvSpPr txBox="1"/>
          <p:nvPr/>
        </p:nvSpPr>
        <p:spPr>
          <a:xfrm>
            <a:off x="10203790" y="7953451"/>
            <a:ext cx="341985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シグナルを見逃さない</a:t>
            </a:r>
            <a:endParaRPr lang="en-US" sz="1600"/>
          </a:p>
        </p:txBody>
      </p:sp>
      <p:sp>
        <p:nvSpPr>
          <p:cNvPr id="28" name="Text 24"/>
          <p:cNvSpPr txBox="1"/>
          <p:nvPr/>
        </p:nvSpPr>
        <p:spPr>
          <a:xfrm>
            <a:off x="10203790" y="8334756"/>
            <a:ext cx="34198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「面倒」を感じた瞬間こそ、AI化のシグナル</a:t>
            </a:r>
            <a:endParaRPr lang="en-US" sz="1300"/>
          </a:p>
        </p:txBody>
      </p:sp>
      <p:sp>
        <p:nvSpPr>
          <p:cNvPr id="29" name="Text 25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0" name="Text 26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31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05695" y="3810305"/>
            <a:ext cx="7467905" cy="4667098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3047695" y="3810305"/>
            <a:ext cx="4190695" cy="857707"/>
          </a:xfrm>
          <a:custGeom>
            <a:avLst/>
            <a:gdLst/>
            <a:ahLst/>
            <a:cxnLst/>
            <a:rect l="l" t="t" r="r" b="b"/>
            <a:pathLst>
              <a:path w="4190695" h="857707">
                <a:moveTo>
                  <a:pt x="838139" y="0"/>
                </a:moveTo>
                <a:lnTo>
                  <a:pt x="3352556" y="0"/>
                </a:lnTo>
                <a:lnTo>
                  <a:pt x="4190695" y="857707"/>
                </a:lnTo>
                <a:lnTo>
                  <a:pt x="0" y="857707"/>
                </a:lnTo>
                <a:close/>
              </a:path>
            </a:pathLst>
          </a:custGeom>
          <a:solidFill>
            <a:srgbClr val="0969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2095805" y="4762195"/>
            <a:ext cx="6096305" cy="1047902"/>
          </a:xfrm>
          <a:custGeom>
            <a:avLst/>
            <a:gdLst/>
            <a:ahLst/>
            <a:cxnLst/>
            <a:rect l="l" t="t" r="r" b="b"/>
            <a:pathLst>
              <a:path w="6096305" h="1047902">
                <a:moveTo>
                  <a:pt x="609630" y="0"/>
                </a:moveTo>
                <a:lnTo>
                  <a:pt x="5486674" y="0"/>
                </a:lnTo>
                <a:lnTo>
                  <a:pt x="6096305" y="1047902"/>
                </a:lnTo>
                <a:lnTo>
                  <a:pt x="0" y="1047902"/>
                </a:lnTo>
                <a:close/>
              </a:path>
            </a:pathLst>
          </a:custGeom>
          <a:solidFill>
            <a:srgbClr val="218B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1143000" y="5905195"/>
            <a:ext cx="8001000" cy="1333195"/>
          </a:xfrm>
          <a:custGeom>
            <a:avLst/>
            <a:gdLst/>
            <a:ahLst/>
            <a:cxnLst/>
            <a:rect l="l" t="t" r="r" b="b"/>
            <a:pathLst>
              <a:path w="8001000" h="1333195">
                <a:moveTo>
                  <a:pt x="400050" y="0"/>
                </a:moveTo>
                <a:lnTo>
                  <a:pt x="7600950" y="0"/>
                </a:lnTo>
                <a:lnTo>
                  <a:pt x="8001000" y="1333195"/>
                </a:lnTo>
                <a:lnTo>
                  <a:pt x="0" y="1333195"/>
                </a:lnTo>
                <a:close/>
              </a:path>
            </a:pathLst>
          </a:custGeom>
          <a:solidFill>
            <a:srgbClr val="24292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gen-dedup-4b1650a7871c20775d8a7ddcc70eb098.png"/>
          <p:cNvPicPr>
            <a:picLocks noChangeAspect="1"/>
          </p:cNvPicPr>
          <p:nvPr/>
        </p:nvPicPr>
        <p:blipFill>
          <a:blip r:embed="rId4"/>
          <a:srcRect l="-402" r="-402"/>
          <a:stretch/>
        </p:blipFill>
        <p:spPr>
          <a:xfrm>
            <a:off x="9905695" y="3810305"/>
            <a:ext cx="57607" cy="46670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3 / 自分は作業フローの一部</a:t>
            </a:r>
            <a:endParaRPr lang="en-US" sz="1100"/>
          </a:p>
        </p:txBody>
      </p:sp>
      <p:sp>
        <p:nvSpPr>
          <p:cNvPr id="9" name="Text 5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積み上げるほど、AIの守備範囲が広がる</a:t>
            </a:r>
            <a:endParaRPr lang="en-US" sz="4800"/>
          </a:p>
        </p:txBody>
      </p:sp>
      <p:sp>
        <p:nvSpPr>
          <p:cNvPr id="10" name="Text 6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ほぼすべての作業はAIで自動化できる。ただし Skill / Instruction (Rule) / Agent / Hook の充実があって初めて成立する。</a:t>
            </a:r>
            <a:endParaRPr lang="en-US" sz="2000"/>
          </a:p>
        </p:txBody>
      </p:sp>
      <p:sp>
        <p:nvSpPr>
          <p:cNvPr id="11" name="Text 7"/>
          <p:cNvSpPr txBox="1"/>
          <p:nvPr/>
        </p:nvSpPr>
        <p:spPr>
          <a:xfrm>
            <a:off x="3047695" y="4058107"/>
            <a:ext cx="4191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137">
                <a:solidFill>
                  <a:srgbClr val="DDF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</a:t>
            </a:r>
            <a:endParaRPr lang="en-US" sz="900"/>
          </a:p>
        </p:txBody>
      </p:sp>
      <p:sp>
        <p:nvSpPr>
          <p:cNvPr id="12" name="Text 8"/>
          <p:cNvSpPr txBox="1"/>
          <p:nvPr/>
        </p:nvSpPr>
        <p:spPr>
          <a:xfrm>
            <a:off x="3047695" y="4267505"/>
            <a:ext cx="419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人：設計・レビュー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2095805" y="5086807"/>
            <a:ext cx="6096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137">
                <a:solidFill>
                  <a:srgbClr val="DDF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</a:t>
            </a:r>
            <a:endParaRPr lang="en-US" sz="900"/>
          </a:p>
        </p:txBody>
      </p:sp>
      <p:sp>
        <p:nvSpPr>
          <p:cNvPr id="14" name="Text 10"/>
          <p:cNvSpPr txBox="1"/>
          <p:nvPr/>
        </p:nvSpPr>
        <p:spPr>
          <a:xfrm>
            <a:off x="2095805" y="5296205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Agent：タスクを自律実行</a:t>
            </a:r>
            <a:endParaRPr lang="en-US" sz="1600"/>
          </a:p>
        </p:txBody>
      </p:sp>
      <p:sp>
        <p:nvSpPr>
          <p:cNvPr id="15" name="Text 11"/>
          <p:cNvSpPr txBox="1"/>
          <p:nvPr/>
        </p:nvSpPr>
        <p:spPr>
          <a:xfrm>
            <a:off x="1143000" y="6324905"/>
            <a:ext cx="8001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137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900"/>
          </a:p>
        </p:txBody>
      </p:sp>
      <p:sp>
        <p:nvSpPr>
          <p:cNvPr id="16" name="Text 12"/>
          <p:cNvSpPr txBox="1"/>
          <p:nvPr/>
        </p:nvSpPr>
        <p:spPr>
          <a:xfrm>
            <a:off x="1143000" y="6553505"/>
            <a:ext cx="8001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 (Rule) / Skill / Hook の蓄積</a:t>
            </a:r>
            <a:endParaRPr lang="en-US" sz="1600"/>
          </a:p>
        </p:txBody>
      </p:sp>
      <p:sp>
        <p:nvSpPr>
          <p:cNvPr id="17" name="Text 13"/>
          <p:cNvSpPr txBox="1"/>
          <p:nvPr/>
        </p:nvSpPr>
        <p:spPr>
          <a:xfrm>
            <a:off x="1143000" y="7524598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土台が厚いほど、頂点で任せられる範囲が広がる。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10287000" y="4114800"/>
            <a:ext cx="67062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POINTS</a:t>
            </a:r>
            <a:endParaRPr lang="en-US" sz="1000"/>
          </a:p>
        </p:txBody>
      </p:sp>
      <p:sp>
        <p:nvSpPr>
          <p:cNvPr id="19" name="Text 15"/>
          <p:cNvSpPr txBox="1"/>
          <p:nvPr/>
        </p:nvSpPr>
        <p:spPr>
          <a:xfrm>
            <a:off x="10287000" y="4486046"/>
            <a:ext cx="342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/>
          </a:p>
        </p:txBody>
      </p:sp>
      <p:sp>
        <p:nvSpPr>
          <p:cNvPr id="20" name="Text 16"/>
          <p:cNvSpPr txBox="1"/>
          <p:nvPr/>
        </p:nvSpPr>
        <p:spPr>
          <a:xfrm>
            <a:off x="10782605" y="4486046"/>
            <a:ext cx="486735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前提：自分の作業の大半は、手順化すればAIが代行できる。</a:t>
            </a:r>
            <a:endParaRPr lang="en-US" sz="1400"/>
          </a:p>
        </p:txBody>
      </p:sp>
      <p:sp>
        <p:nvSpPr>
          <p:cNvPr id="21" name="Text 17"/>
          <p:cNvSpPr txBox="1"/>
          <p:nvPr/>
        </p:nvSpPr>
        <p:spPr>
          <a:xfrm>
            <a:off x="10287000" y="5004511"/>
            <a:ext cx="3429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/>
          </a:p>
        </p:txBody>
      </p:sp>
      <p:sp>
        <p:nvSpPr>
          <p:cNvPr id="22" name="Text 18"/>
          <p:cNvSpPr txBox="1"/>
          <p:nvPr/>
        </p:nvSpPr>
        <p:spPr>
          <a:xfrm>
            <a:off x="10782605" y="5004511"/>
            <a:ext cx="62106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現実：いきなり全自動にはならない。Skill / Instruction (Rule) / Agent / Hook の蓄積が必要。</a:t>
            </a:r>
            <a:endParaRPr lang="en-US" sz="1400"/>
          </a:p>
        </p:txBody>
      </p:sp>
      <p:sp>
        <p:nvSpPr>
          <p:cNvPr id="23" name="Text 19"/>
          <p:cNvSpPr txBox="1"/>
          <p:nvPr/>
        </p:nvSpPr>
        <p:spPr>
          <a:xfrm>
            <a:off x="10287000" y="5811926"/>
            <a:ext cx="342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/>
          </a:p>
        </p:txBody>
      </p:sp>
      <p:sp>
        <p:nvSpPr>
          <p:cNvPr id="24" name="Text 20"/>
          <p:cNvSpPr txBox="1"/>
          <p:nvPr/>
        </p:nvSpPr>
        <p:spPr>
          <a:xfrm>
            <a:off x="10782605" y="5811926"/>
            <a:ext cx="48298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だから“積み上げ”が効く。作るほどAIの守備範囲が広がる。</a:t>
            </a:r>
            <a:endParaRPr lang="en-US" sz="1400"/>
          </a:p>
        </p:txBody>
      </p:sp>
      <p:sp>
        <p:nvSpPr>
          <p:cNvPr id="25" name="Text 21"/>
          <p:cNvSpPr txBox="1"/>
          <p:nvPr/>
        </p:nvSpPr>
        <p:spPr>
          <a:xfrm>
            <a:off x="10287000" y="6330391"/>
            <a:ext cx="342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/>
          </a:p>
        </p:txBody>
      </p:sp>
      <p:sp>
        <p:nvSpPr>
          <p:cNvPr id="26" name="Text 22"/>
          <p:cNvSpPr txBox="1"/>
          <p:nvPr/>
        </p:nvSpPr>
        <p:spPr>
          <a:xfrm>
            <a:off x="10782605" y="6330391"/>
            <a:ext cx="59820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人の仕事は「手を動かす」から「フローを設計し、任せ、確かめる」へ。</a:t>
            </a:r>
            <a:endParaRPr lang="en-US" sz="1400"/>
          </a:p>
        </p:txBody>
      </p:sp>
      <p:sp>
        <p:nvSpPr>
          <p:cNvPr id="27" name="Text 2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28" name="Text 2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31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238805"/>
            <a:ext cx="16420795" cy="1143000"/>
          </a:xfrm>
          <a:prstGeom prst="roundRect">
            <a:avLst>
              <a:gd name="adj" fmla="val 664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4559728"/>
            <a:ext cx="16420795" cy="1143000"/>
          </a:xfrm>
          <a:prstGeom prst="roundRect">
            <a:avLst>
              <a:gd name="adj" fmla="val 664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810098"/>
            <a:ext cx="16420795" cy="1143000"/>
          </a:xfrm>
          <a:prstGeom prst="roundRect">
            <a:avLst>
              <a:gd name="adj" fmla="val 664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7095744"/>
            <a:ext cx="16420795" cy="1143000"/>
          </a:xfrm>
          <a:prstGeom prst="roundRect">
            <a:avLst>
              <a:gd name="adj" fmla="val 664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8524951"/>
            <a:ext cx="8143646" cy="952805"/>
          </a:xfrm>
          <a:prstGeom prst="roundRect">
            <a:avLst>
              <a:gd name="adj" fmla="val 7965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91549" y="8524951"/>
            <a:ext cx="8143646" cy="952805"/>
          </a:xfrm>
          <a:prstGeom prst="roundRect">
            <a:avLst>
              <a:gd name="adj" fmla="val 7965"/>
            </a:avLst>
          </a:prstGeom>
          <a:solidFill>
            <a:srgbClr val="0969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4 / 役割と実例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組み合わせで、精度と安全性が決まる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それぞれが「いつ効くか」を押さえる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295705" y="34674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4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AGENT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95705" y="3705149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153205" y="3600907"/>
            <a:ext cx="1295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0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タスクを役割ごとに分業させ、それぞれの品質を高める。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95705" y="4753051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4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SKILL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295705" y="4990795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4153205" y="4886554"/>
            <a:ext cx="1295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kumimoji="0" lang="ja-JP" altLang="en-US" b="0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定型作業の手順を再利用可能な形で呼び出せるようにする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295705" y="6038698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4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INSTRUCTION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295705" y="6277356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153205" y="6172200"/>
            <a:ext cx="1295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6F8FA"/>
                </a:highlight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JetBrains Mono" pitchFamily="34" charset="-120"/>
              </a:rPr>
              <a:t>常に守らせたい規約・方針・判断基準を、</a:t>
            </a:r>
            <a:r>
              <a:rPr kumimoji="0" lang="en-US" altLang="ja-JP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6F8FA"/>
                </a:highlight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JetBrains Mono" pitchFamily="34" charset="-120"/>
              </a:rPr>
              <a:t>AI</a:t>
            </a:r>
            <a:r>
              <a:rPr kumimoji="0" lang="ja-JP" altLang="en-US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6F8FA"/>
                </a:highlight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JetBrains Mono" pitchFamily="34" charset="-120"/>
              </a:rPr>
              <a:t>に常時適用する。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295705" y="7324344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4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HOOK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295705" y="7563002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153205" y="7457846"/>
            <a:ext cx="1295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defRPr/>
            </a:pPr>
            <a:r>
              <a:rPr lang="ja-JP" altLang="ja-JP">
                <a:highlight>
                  <a:srgbClr val="F6F8FA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エージェント実行の各タイミングで、自動チェック・監査・ブロックをかける。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238098" y="8715146"/>
            <a:ext cx="7525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守り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238098" y="8953805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 / Hook —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main保護・命名規約・秘密情報検出</a:t>
            </a:r>
            <a:r>
              <a:rPr lang="ja-JP" altLang="en-US" sz="14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など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9515246" y="8715146"/>
            <a:ext cx="7525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攻め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9515246" y="8953805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Skill —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分業・issue作成・テスト生成・調査整理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など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07357af7ea665c5ba5cbc0d0975a90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LECTURE / 05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Copilot 向け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リポジトリ構成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8287207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リポジトリ自体をAI駆動の作業場にする。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6858000" cy="5524805"/>
          </a:xfrm>
          <a:prstGeom prst="roundRect">
            <a:avLst>
              <a:gd name="adj" fmla="val 206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8191195" y="4190695"/>
            <a:ext cx="9144000" cy="933602"/>
          </a:xfrm>
          <a:prstGeom prst="roundRect">
            <a:avLst>
              <a:gd name="adj" fmla="val 61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8191195" y="4190695"/>
            <a:ext cx="47549" cy="933602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8191195" y="5219395"/>
            <a:ext cx="9144000" cy="933602"/>
          </a:xfrm>
          <a:prstGeom prst="roundRect">
            <a:avLst>
              <a:gd name="adj" fmla="val 61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8191195" y="5219395"/>
            <a:ext cx="47549" cy="933602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8191195" y="6248095"/>
            <a:ext cx="9144000" cy="933602"/>
          </a:xfrm>
          <a:prstGeom prst="roundRect">
            <a:avLst>
              <a:gd name="adj" fmla="val 61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8191195" y="6248095"/>
            <a:ext cx="47549" cy="933602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191195" y="7276795"/>
            <a:ext cx="9144000" cy="933602"/>
          </a:xfrm>
          <a:prstGeom prst="roundRect">
            <a:avLst>
              <a:gd name="adj" fmla="val 61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7276795"/>
            <a:ext cx="47549" cy="933602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8191195" y="8305495"/>
            <a:ext cx="9144000" cy="933602"/>
          </a:xfrm>
          <a:prstGeom prst="roundRect">
            <a:avLst>
              <a:gd name="adj" fmla="val 61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191195" y="8305495"/>
            <a:ext cx="47549" cy="933602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gen-dedup-5f5fa8093a840d48628b159350b7593e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14400" y="3810305"/>
            <a:ext cx="57607" cy="55248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4 / 効率化の仕組み</a:t>
            </a:r>
            <a:endParaRPr lang="en-US" sz="1100"/>
          </a:p>
        </p:txBody>
      </p:sp>
      <p:sp>
        <p:nvSpPr>
          <p:cNvPr id="16" name="Text 12"/>
          <p:cNvSpPr txBox="1"/>
          <p:nvPr/>
        </p:nvSpPr>
        <p:spPr>
          <a:xfrm>
            <a:off x="1238098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リポジトリ直下に置く“4点セット”</a:t>
            </a:r>
            <a:endParaRPr lang="en-US" sz="4800"/>
          </a:p>
        </p:txBody>
      </p:sp>
      <p:sp>
        <p:nvSpPr>
          <p:cNvPr id="17" name="Text 13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AIを効率的に使う鍵は、AI設定ディレクトリを用意し、4種の資産と1つの共通方針を集約すること。</a:t>
            </a:r>
            <a:endParaRPr lang="en-US" sz="1600"/>
          </a:p>
        </p:txBody>
      </p:sp>
      <p:sp>
        <p:nvSpPr>
          <p:cNvPr id="18" name="Text 14"/>
          <p:cNvSpPr txBox="1"/>
          <p:nvPr/>
        </p:nvSpPr>
        <p:spPr>
          <a:xfrm>
            <a:off x="1295705" y="4114800"/>
            <a:ext cx="6096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</a:t>
            </a:r>
            <a:endParaRPr lang="en-US" sz="1000"/>
          </a:p>
        </p:txBody>
      </p:sp>
      <p:sp>
        <p:nvSpPr>
          <p:cNvPr id="19" name="Text 15"/>
          <p:cNvSpPr txBox="1"/>
          <p:nvPr/>
        </p:nvSpPr>
        <p:spPr>
          <a:xfrm>
            <a:off x="1295705" y="4486961"/>
            <a:ext cx="60963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1つの共通方針 +</a:t>
            </a:r>
            <a:endParaRPr lang="en-US" sz="190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4種のAI資産</a:t>
            </a:r>
            <a:endParaRPr lang="en-US" sz="1900"/>
          </a:p>
        </p:txBody>
      </p:sp>
      <p:pic>
        <p:nvPicPr>
          <p:cNvPr id="20" name="Image 2" descr="gen-dedup-4957fbc7239cb066f7def0d00341431a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295705" y="5533949"/>
            <a:ext cx="571500" cy="2834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295705" y="5829300"/>
            <a:ext cx="6096305" cy="838505"/>
          </a:xfrm>
          <a:prstGeom prst="roundRect">
            <a:avLst>
              <a:gd name="adj" fmla="val 9051"/>
            </a:avLst>
          </a:prstGeom>
          <a:solidFill>
            <a:srgbClr val="FFFFFF"/>
          </a:solidFill>
          <a:ln w="254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 txBox="1"/>
          <p:nvPr/>
        </p:nvSpPr>
        <p:spPr>
          <a:xfrm>
            <a:off x="1505102" y="6001207"/>
            <a:ext cx="56775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26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共通方針</a:t>
            </a:r>
            <a:endParaRPr lang="en-US" sz="900"/>
          </a:p>
        </p:txBody>
      </p:sp>
      <p:sp>
        <p:nvSpPr>
          <p:cNvPr id="23" name="Text 18"/>
          <p:cNvSpPr txBox="1"/>
          <p:nvPr/>
        </p:nvSpPr>
        <p:spPr>
          <a:xfrm>
            <a:off x="1505102" y="6219749"/>
            <a:ext cx="5677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全体に効かせる基本方針</a:t>
            </a:r>
            <a:endParaRPr lang="en-US" sz="1500"/>
          </a:p>
        </p:txBody>
      </p:sp>
      <p:sp>
        <p:nvSpPr>
          <p:cNvPr id="24" name="Shape 19"/>
          <p:cNvSpPr/>
          <p:nvPr/>
        </p:nvSpPr>
        <p:spPr>
          <a:xfrm>
            <a:off x="1295705" y="6858000"/>
            <a:ext cx="2991002" cy="714146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 txBox="1"/>
          <p:nvPr/>
        </p:nvSpPr>
        <p:spPr>
          <a:xfrm>
            <a:off x="1476756" y="7000646"/>
            <a:ext cx="26289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16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/>
          </a:p>
        </p:txBody>
      </p:sp>
      <p:sp>
        <p:nvSpPr>
          <p:cNvPr id="26" name="Text 21"/>
          <p:cNvSpPr txBox="1"/>
          <p:nvPr/>
        </p:nvSpPr>
        <p:spPr>
          <a:xfrm>
            <a:off x="1476756" y="7181698"/>
            <a:ext cx="2628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endParaRPr lang="en-US" sz="1400"/>
          </a:p>
        </p:txBody>
      </p:sp>
      <p:sp>
        <p:nvSpPr>
          <p:cNvPr id="27" name="Shape 22"/>
          <p:cNvSpPr/>
          <p:nvPr/>
        </p:nvSpPr>
        <p:spPr>
          <a:xfrm>
            <a:off x="4401007" y="6858000"/>
            <a:ext cx="2991002" cy="714146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 txBox="1"/>
          <p:nvPr/>
        </p:nvSpPr>
        <p:spPr>
          <a:xfrm>
            <a:off x="4581144" y="7000646"/>
            <a:ext cx="26289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16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/>
          </a:p>
        </p:txBody>
      </p:sp>
      <p:sp>
        <p:nvSpPr>
          <p:cNvPr id="29" name="Text 24"/>
          <p:cNvSpPr txBox="1"/>
          <p:nvPr/>
        </p:nvSpPr>
        <p:spPr>
          <a:xfrm>
            <a:off x="4581144" y="7181698"/>
            <a:ext cx="2628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400"/>
          </a:p>
        </p:txBody>
      </p:sp>
      <p:sp>
        <p:nvSpPr>
          <p:cNvPr id="30" name="Shape 25"/>
          <p:cNvSpPr/>
          <p:nvPr/>
        </p:nvSpPr>
        <p:spPr>
          <a:xfrm>
            <a:off x="1295705" y="7686446"/>
            <a:ext cx="2991002" cy="714146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 txBox="1"/>
          <p:nvPr/>
        </p:nvSpPr>
        <p:spPr>
          <a:xfrm>
            <a:off x="1476756" y="7830007"/>
            <a:ext cx="26289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16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/>
          </a:p>
        </p:txBody>
      </p:sp>
      <p:sp>
        <p:nvSpPr>
          <p:cNvPr id="32" name="Text 27"/>
          <p:cNvSpPr txBox="1"/>
          <p:nvPr/>
        </p:nvSpPr>
        <p:spPr>
          <a:xfrm>
            <a:off x="1476756" y="8010144"/>
            <a:ext cx="2628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</a:t>
            </a:r>
            <a:r>
              <a:rPr lang="en-US" sz="900" b="1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/Rule</a:t>
            </a:r>
            <a:endParaRPr lang="en-US" sz="1400"/>
          </a:p>
        </p:txBody>
      </p:sp>
      <p:sp>
        <p:nvSpPr>
          <p:cNvPr id="33" name="Shape 28"/>
          <p:cNvSpPr/>
          <p:nvPr/>
        </p:nvSpPr>
        <p:spPr>
          <a:xfrm>
            <a:off x="4401007" y="7686446"/>
            <a:ext cx="2991002" cy="714146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9"/>
          <p:cNvSpPr txBox="1"/>
          <p:nvPr/>
        </p:nvSpPr>
        <p:spPr>
          <a:xfrm>
            <a:off x="4581144" y="7830007"/>
            <a:ext cx="26289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16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/>
          </a:p>
        </p:txBody>
      </p:sp>
      <p:sp>
        <p:nvSpPr>
          <p:cNvPr id="35" name="Text 30"/>
          <p:cNvSpPr txBox="1"/>
          <p:nvPr/>
        </p:nvSpPr>
        <p:spPr>
          <a:xfrm>
            <a:off x="4581144" y="8010144"/>
            <a:ext cx="2628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</a:t>
            </a:r>
            <a:endParaRPr lang="en-US" sz="1400"/>
          </a:p>
        </p:txBody>
      </p:sp>
      <p:sp>
        <p:nvSpPr>
          <p:cNvPr id="36" name="Text 31"/>
          <p:cNvSpPr txBox="1"/>
          <p:nvPr/>
        </p:nvSpPr>
        <p:spPr>
          <a:xfrm>
            <a:off x="8191195" y="3810305"/>
            <a:ext cx="9144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ROLES</a:t>
            </a:r>
            <a:endParaRPr lang="en-US" sz="1000"/>
          </a:p>
        </p:txBody>
      </p:sp>
      <p:sp>
        <p:nvSpPr>
          <p:cNvPr id="37" name="Text 32"/>
          <p:cNvSpPr txBox="1"/>
          <p:nvPr/>
        </p:nvSpPr>
        <p:spPr>
          <a:xfrm>
            <a:off x="8496605" y="4343400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endParaRPr lang="en-US" sz="1600"/>
          </a:p>
        </p:txBody>
      </p:sp>
      <p:sp>
        <p:nvSpPr>
          <p:cNvPr id="38" name="Text 33"/>
          <p:cNvSpPr txBox="1"/>
          <p:nvPr/>
        </p:nvSpPr>
        <p:spPr>
          <a:xfrm>
            <a:off x="10362895" y="4371746"/>
            <a:ext cx="46350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役割特化のサブエージェント（設計 / 実行 / レビュー等）</a:t>
            </a:r>
            <a:endParaRPr lang="en-US" sz="1300"/>
          </a:p>
        </p:txBody>
      </p:sp>
      <p:sp>
        <p:nvSpPr>
          <p:cNvPr id="39" name="Text 34"/>
          <p:cNvSpPr txBox="1"/>
          <p:nvPr/>
        </p:nvSpPr>
        <p:spPr>
          <a:xfrm>
            <a:off x="8496605" y="5372100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/>
          </a:p>
        </p:txBody>
      </p:sp>
      <p:sp>
        <p:nvSpPr>
          <p:cNvPr id="40" name="Text 35"/>
          <p:cNvSpPr txBox="1"/>
          <p:nvPr/>
        </p:nvSpPr>
        <p:spPr>
          <a:xfrm>
            <a:off x="10362895" y="5400446"/>
            <a:ext cx="24003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再利用可能なワークフロー手順</a:t>
            </a:r>
            <a:endParaRPr lang="en-US" sz="1300"/>
          </a:p>
        </p:txBody>
      </p:sp>
      <p:sp>
        <p:nvSpPr>
          <p:cNvPr id="41" name="Text 36"/>
          <p:cNvSpPr txBox="1"/>
          <p:nvPr/>
        </p:nvSpPr>
        <p:spPr>
          <a:xfrm>
            <a:off x="8496605" y="6400800"/>
            <a:ext cx="204094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</a:t>
            </a:r>
            <a:r>
              <a:rPr lang="en-US" sz="1000" b="1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/Rule</a:t>
            </a:r>
            <a:endParaRPr lang="en-US" sz="1600"/>
          </a:p>
        </p:txBody>
      </p:sp>
      <p:sp>
        <p:nvSpPr>
          <p:cNvPr id="42" name="Text 37"/>
          <p:cNvSpPr txBox="1"/>
          <p:nvPr/>
        </p:nvSpPr>
        <p:spPr>
          <a:xfrm>
            <a:off x="10362895" y="6429146"/>
            <a:ext cx="32580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常に適用したい規約・方針・ガードレール</a:t>
            </a:r>
            <a:endParaRPr lang="en-US" sz="1300"/>
          </a:p>
        </p:txBody>
      </p:sp>
      <p:sp>
        <p:nvSpPr>
          <p:cNvPr id="43" name="Text 38"/>
          <p:cNvSpPr txBox="1"/>
          <p:nvPr/>
        </p:nvSpPr>
        <p:spPr>
          <a:xfrm>
            <a:off x="8496605" y="7429500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</a:t>
            </a:r>
            <a:endParaRPr lang="en-US" sz="1600"/>
          </a:p>
        </p:txBody>
      </p:sp>
      <p:sp>
        <p:nvSpPr>
          <p:cNvPr id="44" name="Text 39"/>
          <p:cNvSpPr txBox="1"/>
          <p:nvPr/>
        </p:nvSpPr>
        <p:spPr>
          <a:xfrm>
            <a:off x="10362895" y="7457846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エージェント実行の各タイミングで自動チェック・監査・ブロック</a:t>
            </a:r>
            <a:endParaRPr lang="en-US" sz="1300"/>
          </a:p>
        </p:txBody>
      </p:sp>
      <p:sp>
        <p:nvSpPr>
          <p:cNvPr id="45" name="Text 40"/>
          <p:cNvSpPr txBox="1"/>
          <p:nvPr/>
        </p:nvSpPr>
        <p:spPr>
          <a:xfrm>
            <a:off x="8496605" y="8458200"/>
            <a:ext cx="1714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共通方針</a:t>
            </a:r>
            <a:endParaRPr lang="en-US" sz="1600"/>
          </a:p>
        </p:txBody>
      </p:sp>
      <p:sp>
        <p:nvSpPr>
          <p:cNvPr id="46" name="Text 41"/>
          <p:cNvSpPr txBox="1"/>
          <p:nvPr/>
        </p:nvSpPr>
        <p:spPr>
          <a:xfrm>
            <a:off x="10362895" y="8505749"/>
            <a:ext cx="30769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すべての生成・修正に効かせる基本方針</a:t>
            </a:r>
            <a:endParaRPr lang="en-US" sz="1300"/>
          </a:p>
        </p:txBody>
      </p:sp>
      <p:sp>
        <p:nvSpPr>
          <p:cNvPr id="47" name="Text 42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48" name="Text 43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31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715207"/>
            <a:ext cx="8382305" cy="5619902"/>
          </a:xfrm>
          <a:prstGeom prst="roundRect">
            <a:avLst>
              <a:gd name="adj" fmla="val 2034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715500" y="5333695"/>
            <a:ext cx="76196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715500" y="5333695"/>
            <a:ext cx="47549" cy="1238098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715500" y="6667805"/>
            <a:ext cx="76196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715500" y="6667805"/>
            <a:ext cx="47549" cy="1238098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715500" y="8001000"/>
            <a:ext cx="76196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715500" y="8001000"/>
            <a:ext cx="47549" cy="1238098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 5 / リポジトリ構成</a:t>
            </a:r>
            <a:endParaRPr lang="en-US" sz="1100"/>
          </a:p>
        </p:txBody>
      </p:sp>
      <p:sp>
        <p:nvSpPr>
          <p:cNvPr id="11" name="Text 8"/>
          <p:cNvSpPr txBox="1"/>
          <p:nvPr/>
        </p:nvSpPr>
        <p:spPr>
          <a:xfrm>
            <a:off x="914400" y="1238098"/>
            <a:ext cx="1638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.github に AI 資産を集約する</a:t>
            </a:r>
            <a:endParaRPr lang="en-US" sz="4500"/>
          </a:p>
        </p:txBody>
      </p:sp>
      <p:sp>
        <p:nvSpPr>
          <p:cNvPr id="12" name="Text 9"/>
          <p:cNvSpPr txBox="1"/>
          <p:nvPr/>
        </p:nvSpPr>
        <p:spPr>
          <a:xfrm>
            <a:off x="914400" y="2381098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文脈・手順・役割・安全装置を</a:t>
            </a:r>
            <a:r>
              <a:rPr lang="en-US" sz="14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.github/ </a:t>
            </a: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配下に集約。生成物と改善issueもリポジトリ内で回す。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1295705" y="4048049"/>
            <a:ext cx="114300" cy="114300"/>
          </a:xfrm>
          <a:prstGeom prst="ellipse">
            <a:avLst/>
          </a:prstGeom>
          <a:solidFill>
            <a:srgbClr val="FF60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1505102" y="4048049"/>
            <a:ext cx="114300" cy="114300"/>
          </a:xfrm>
          <a:prstGeom prst="ellipse">
            <a:avLst/>
          </a:prstGeom>
          <a:solidFill>
            <a:srgbClr val="FFBD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1714500" y="4048049"/>
            <a:ext cx="114300" cy="114300"/>
          </a:xfrm>
          <a:prstGeom prst="ellipse">
            <a:avLst/>
          </a:prstGeom>
          <a:solidFill>
            <a:srgbClr val="00C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2038198" y="4019702"/>
            <a:ext cx="1047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hands-on-repo/</a:t>
            </a:r>
            <a:endParaRPr lang="en-US" sz="900"/>
          </a:p>
        </p:txBody>
      </p:sp>
      <p:sp>
        <p:nvSpPr>
          <p:cNvPr id="17" name="Text 14"/>
          <p:cNvSpPr txBox="1"/>
          <p:nvPr/>
        </p:nvSpPr>
        <p:spPr>
          <a:xfrm>
            <a:off x="1295705" y="4381805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hands-on-repo/</a:t>
            </a:r>
            <a:endParaRPr lang="en-US" sz="1300"/>
          </a:p>
        </p:txBody>
      </p:sp>
      <p:sp>
        <p:nvSpPr>
          <p:cNvPr id="18" name="Text 15"/>
          <p:cNvSpPr txBox="1"/>
          <p:nvPr/>
        </p:nvSpPr>
        <p:spPr>
          <a:xfrm>
            <a:off x="1295705" y="4715561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</a:t>
            </a:r>
            <a:endParaRPr lang="en-US" sz="1300"/>
          </a:p>
        </p:txBody>
      </p:sp>
      <p:sp>
        <p:nvSpPr>
          <p:cNvPr id="19" name="Text 16"/>
          <p:cNvSpPr txBox="1"/>
          <p:nvPr/>
        </p:nvSpPr>
        <p:spPr>
          <a:xfrm>
            <a:off x="1295705" y="5050231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30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copilot-instructions.md</a:t>
            </a:r>
            <a:endParaRPr lang="en-US" sz="1300"/>
          </a:p>
        </p:txBody>
      </p:sp>
      <p:sp>
        <p:nvSpPr>
          <p:cNvPr id="20" name="Text 17"/>
          <p:cNvSpPr txBox="1"/>
          <p:nvPr/>
        </p:nvSpPr>
        <p:spPr>
          <a:xfrm>
            <a:off x="1295705" y="5383987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instructions/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常時ルール</a:t>
            </a:r>
            <a:endParaRPr lang="en-US" sz="1300"/>
          </a:p>
        </p:txBody>
      </p:sp>
      <p:sp>
        <p:nvSpPr>
          <p:cNvPr id="21" name="Text 18"/>
          <p:cNvSpPr txBox="1"/>
          <p:nvPr/>
        </p:nvSpPr>
        <p:spPr>
          <a:xfrm>
            <a:off x="1295705" y="5718658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役割特化</a:t>
            </a:r>
            <a:endParaRPr lang="en-US" sz="1300"/>
          </a:p>
        </p:txBody>
      </p:sp>
      <p:sp>
        <p:nvSpPr>
          <p:cNvPr id="22" name="Text 19"/>
          <p:cNvSpPr txBox="1"/>
          <p:nvPr/>
        </p:nvSpPr>
        <p:spPr>
          <a:xfrm>
            <a:off x="1295705" y="6052414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再利用手順</a:t>
            </a:r>
            <a:endParaRPr lang="en-US" sz="1300"/>
          </a:p>
        </p:txBody>
      </p:sp>
      <p:sp>
        <p:nvSpPr>
          <p:cNvPr id="23" name="Text 20"/>
          <p:cNvSpPr txBox="1"/>
          <p:nvPr/>
        </p:nvSpPr>
        <p:spPr>
          <a:xfrm>
            <a:off x="1295705" y="6387084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hooks/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自動チェック</a:t>
            </a:r>
            <a:endParaRPr lang="en-US" sz="1300"/>
          </a:p>
        </p:txBody>
      </p:sp>
      <p:sp>
        <p:nvSpPr>
          <p:cNvPr id="24" name="Text 21"/>
          <p:cNvSpPr txBox="1"/>
          <p:nvPr/>
        </p:nvSpPr>
        <p:spPr>
          <a:xfrm>
            <a:off x="1295705" y="6721754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</a:t>
            </a:r>
            <a:r>
              <a:rPr lang="en-US" sz="130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ISSUE_TEMPLATE/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改善issue雛形</a:t>
            </a:r>
            <a:endParaRPr lang="en-US" sz="1300"/>
          </a:p>
        </p:txBody>
      </p:sp>
      <p:sp>
        <p:nvSpPr>
          <p:cNvPr id="27" name="Text 24"/>
          <p:cNvSpPr txBox="1"/>
          <p:nvPr/>
        </p:nvSpPr>
        <p:spPr>
          <a:xfrm>
            <a:off x="1295705" y="6982815"/>
            <a:ext cx="7620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r>
              <a:rPr lang="en-US" sz="130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r>
              <a:rPr lang="en-US" sz="1300">
                <a:solidFill>
                  <a:srgbClr val="576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ハンズオンの進め方</a:t>
            </a:r>
            <a:endParaRPr lang="en-US" sz="1300"/>
          </a:p>
        </p:txBody>
      </p:sp>
      <p:sp>
        <p:nvSpPr>
          <p:cNvPr id="28" name="Text 25"/>
          <p:cNvSpPr txBox="1"/>
          <p:nvPr/>
        </p:nvSpPr>
        <p:spPr>
          <a:xfrm>
            <a:off x="9715500" y="3810305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.github/</a:t>
            </a:r>
            <a:endParaRPr lang="en-US" sz="1000"/>
          </a:p>
        </p:txBody>
      </p:sp>
      <p:sp>
        <p:nvSpPr>
          <p:cNvPr id="29" name="Text 26"/>
          <p:cNvSpPr txBox="1"/>
          <p:nvPr/>
        </p:nvSpPr>
        <p:spPr>
          <a:xfrm>
            <a:off x="9715500" y="4105656"/>
            <a:ext cx="762061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が参照する場所を、</a:t>
            </a:r>
            <a:endParaRPr lang="en-US" sz="190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プロジェクト自身が用意する。</a:t>
            </a:r>
            <a:endParaRPr lang="en-US" sz="1900"/>
          </a:p>
        </p:txBody>
      </p:sp>
      <p:sp>
        <p:nvSpPr>
          <p:cNvPr id="30" name="Text 27"/>
          <p:cNvSpPr txBox="1"/>
          <p:nvPr/>
        </p:nvSpPr>
        <p:spPr>
          <a:xfrm>
            <a:off x="10039198" y="5544007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共通前提</a:t>
            </a:r>
            <a:endParaRPr lang="en-US" sz="1500"/>
          </a:p>
        </p:txBody>
      </p:sp>
      <p:sp>
        <p:nvSpPr>
          <p:cNvPr id="31" name="Text 28"/>
          <p:cNvSpPr txBox="1"/>
          <p:nvPr/>
        </p:nvSpPr>
        <p:spPr>
          <a:xfrm>
            <a:off x="10039198" y="5896051"/>
            <a:ext cx="7049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copilot-instructions.md </a:t>
            </a: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にリポジトリ全体の方針を書く</a:t>
            </a:r>
            <a:endParaRPr lang="en-US" sz="1200"/>
          </a:p>
        </p:txBody>
      </p:sp>
      <p:sp>
        <p:nvSpPr>
          <p:cNvPr id="32" name="Text 29"/>
          <p:cNvSpPr txBox="1"/>
          <p:nvPr/>
        </p:nvSpPr>
        <p:spPr>
          <a:xfrm>
            <a:off x="10039198" y="6877202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資産の集約</a:t>
            </a:r>
            <a:endParaRPr lang="en-US" sz="1500"/>
          </a:p>
        </p:txBody>
      </p:sp>
      <p:sp>
        <p:nvSpPr>
          <p:cNvPr id="33" name="Text 30"/>
          <p:cNvSpPr txBox="1"/>
          <p:nvPr/>
        </p:nvSpPr>
        <p:spPr>
          <a:xfrm>
            <a:off x="10039198" y="7229246"/>
            <a:ext cx="7049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instructions / agents / skills / hooks を役割ごとにフォルダ分割</a:t>
            </a:r>
            <a:endParaRPr lang="en-US" sz="1200"/>
          </a:p>
        </p:txBody>
      </p:sp>
      <p:sp>
        <p:nvSpPr>
          <p:cNvPr id="34" name="Text 31"/>
          <p:cNvSpPr txBox="1"/>
          <p:nvPr/>
        </p:nvSpPr>
        <p:spPr>
          <a:xfrm>
            <a:off x="10039198" y="8210398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 の受け皿</a:t>
            </a:r>
            <a:endParaRPr lang="en-US" sz="1500"/>
          </a:p>
        </p:txBody>
      </p:sp>
      <p:sp>
        <p:nvSpPr>
          <p:cNvPr id="35" name="Text 32"/>
          <p:cNvSpPr txBox="1"/>
          <p:nvPr/>
        </p:nvSpPr>
        <p:spPr>
          <a:xfrm>
            <a:off x="10039198" y="8563356"/>
            <a:ext cx="7049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ISSUE_TEMPLATE/ </a:t>
            </a: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で改善issueを継続的に起票</a:t>
            </a:r>
            <a:endParaRPr lang="en-US" sz="1200"/>
          </a:p>
        </p:txBody>
      </p:sp>
      <p:sp>
        <p:nvSpPr>
          <p:cNvPr id="36" name="Text 3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7" name="Text 3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31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286707"/>
            <a:ext cx="1642079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4286707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572354"/>
            <a:ext cx="1642079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572354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858000"/>
            <a:ext cx="1642079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858000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gen-dedup-f7d86e9b60c1497223cbfb5d83fe18b5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914400" y="8287207"/>
            <a:ext cx="16420795" cy="10479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座学まとめ / 全員共通ゴール</a:t>
            </a:r>
            <a:endParaRPr lang="en-US" sz="1100"/>
          </a:p>
        </p:txBody>
      </p:sp>
      <p:sp>
        <p:nvSpPr>
          <p:cNvPr id="11" name="Text 7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ここまでが、全員共通</a:t>
            </a:r>
            <a:endParaRPr lang="en-US" sz="4800"/>
          </a:p>
        </p:txBody>
      </p:sp>
      <p:sp>
        <p:nvSpPr>
          <p:cNvPr id="12" name="Text 8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座学のゴールは「仕組みで効率化する」思想の共有。ここからは GitHub Copilot を使って手を動かす。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914400" y="3810305"/>
            <a:ext cx="1638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10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CHECKED ✓</a:t>
            </a:r>
            <a:endParaRPr lang="en-US" sz="1000"/>
          </a:p>
        </p:txBody>
      </p:sp>
      <p:sp>
        <p:nvSpPr>
          <p:cNvPr id="14" name="Text 10"/>
          <p:cNvSpPr txBox="1"/>
          <p:nvPr/>
        </p:nvSpPr>
        <p:spPr>
          <a:xfrm>
            <a:off x="1333195" y="4614977"/>
            <a:ext cx="2286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400"/>
          </a:p>
        </p:txBody>
      </p:sp>
      <p:sp>
        <p:nvSpPr>
          <p:cNvPr id="15" name="Text 11"/>
          <p:cNvSpPr txBox="1"/>
          <p:nvPr/>
        </p:nvSpPr>
        <p:spPr>
          <a:xfrm>
            <a:off x="1782166" y="4515307"/>
            <a:ext cx="30769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3回やったらAI化</a:t>
            </a:r>
            <a:endParaRPr lang="en-US" sz="1800"/>
          </a:p>
        </p:txBody>
      </p:sp>
      <p:sp>
        <p:nvSpPr>
          <p:cNvPr id="16" name="Text 12"/>
          <p:cNvSpPr txBox="1"/>
          <p:nvPr/>
        </p:nvSpPr>
        <p:spPr>
          <a:xfrm>
            <a:off x="1782166" y="4905756"/>
            <a:ext cx="30769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「面倒」を感じた瞬間がAI化のシグナル</a:t>
            </a:r>
            <a:endParaRPr lang="en-US" sz="1300"/>
          </a:p>
        </p:txBody>
      </p:sp>
      <p:sp>
        <p:nvSpPr>
          <p:cNvPr id="17" name="Text 13"/>
          <p:cNvSpPr txBox="1"/>
          <p:nvPr/>
        </p:nvSpPr>
        <p:spPr>
          <a:xfrm>
            <a:off x="1333195" y="5900623"/>
            <a:ext cx="2286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400"/>
          </a:p>
        </p:txBody>
      </p:sp>
      <p:sp>
        <p:nvSpPr>
          <p:cNvPr id="18" name="Text 14"/>
          <p:cNvSpPr txBox="1"/>
          <p:nvPr/>
        </p:nvSpPr>
        <p:spPr>
          <a:xfrm>
            <a:off x="1782166" y="5800954"/>
            <a:ext cx="62773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Skill / Instruction (Rule) / Hook の4点セット</a:t>
            </a:r>
            <a:endParaRPr lang="en-US" sz="1800"/>
          </a:p>
        </p:txBody>
      </p:sp>
      <p:sp>
        <p:nvSpPr>
          <p:cNvPr id="19" name="Text 15"/>
          <p:cNvSpPr txBox="1"/>
          <p:nvPr/>
        </p:nvSpPr>
        <p:spPr>
          <a:xfrm>
            <a:off x="1782166" y="6191402"/>
            <a:ext cx="55915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攻め（Agent / Skill）と守り（Instruction / Hook）の役割分担</a:t>
            </a:r>
            <a:endParaRPr lang="en-US" sz="1300"/>
          </a:p>
        </p:txBody>
      </p:sp>
      <p:sp>
        <p:nvSpPr>
          <p:cNvPr id="20" name="Text 16"/>
          <p:cNvSpPr txBox="1"/>
          <p:nvPr/>
        </p:nvSpPr>
        <p:spPr>
          <a:xfrm>
            <a:off x="1333195" y="7186270"/>
            <a:ext cx="2286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400"/>
          </a:p>
        </p:txBody>
      </p:sp>
      <p:sp>
        <p:nvSpPr>
          <p:cNvPr id="21" name="Text 17"/>
          <p:cNvSpPr txBox="1"/>
          <p:nvPr/>
        </p:nvSpPr>
        <p:spPr>
          <a:xfrm>
            <a:off x="1782166" y="7086600"/>
            <a:ext cx="408279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.github 配下に AI 資産を集約する</a:t>
            </a:r>
            <a:endParaRPr lang="en-US" sz="1800"/>
          </a:p>
        </p:txBody>
      </p:sp>
      <p:sp>
        <p:nvSpPr>
          <p:cNvPr id="22" name="Text 18"/>
          <p:cNvSpPr txBox="1"/>
          <p:nvPr/>
        </p:nvSpPr>
        <p:spPr>
          <a:xfrm>
            <a:off x="1782166" y="7477049"/>
            <a:ext cx="34866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リポジトリを AI 駆動の作業場にする</a:t>
            </a:r>
            <a:endParaRPr lang="en-US" sz="1300"/>
          </a:p>
        </p:txBody>
      </p:sp>
      <p:sp>
        <p:nvSpPr>
          <p:cNvPr id="23" name="Text 19"/>
          <p:cNvSpPr txBox="1"/>
          <p:nvPr/>
        </p:nvSpPr>
        <p:spPr>
          <a:xfrm>
            <a:off x="1333195" y="8605418"/>
            <a:ext cx="857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10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</a:t>
            </a:r>
            <a:endParaRPr lang="en-US" sz="1000"/>
          </a:p>
        </p:txBody>
      </p:sp>
      <p:sp>
        <p:nvSpPr>
          <p:cNvPr id="24" name="Text 20"/>
          <p:cNvSpPr txBox="1"/>
          <p:nvPr/>
        </p:nvSpPr>
        <p:spPr>
          <a:xfrm>
            <a:off x="2419502" y="8524951"/>
            <a:ext cx="599480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実践編で loop を一周回す — ここから手を動かす</a:t>
            </a:r>
            <a:endParaRPr lang="en-US" sz="1900"/>
          </a:p>
        </p:txBody>
      </p:sp>
      <p:sp>
        <p:nvSpPr>
          <p:cNvPr id="25" name="Text 21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26" name="Text 22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31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6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14ccc4120cd566d5b679b6a6532a5c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/ GitHub Copilot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実践編 —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 を一周回す。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8287207"/>
            <a:ext cx="16383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 → AI生成 → デモ → 改善issue。5つのステップで手を動かす。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3905402" cy="40005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5352898" y="3810305"/>
            <a:ext cx="3905402" cy="40005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791395" y="3810305"/>
            <a:ext cx="3905402" cy="40005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14230807" y="3810305"/>
            <a:ext cx="3905402" cy="400050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8287207"/>
            <a:ext cx="16420795" cy="1047902"/>
          </a:xfrm>
          <a:prstGeom prst="roundRect">
            <a:avLst>
              <a:gd name="adj" fmla="val 72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8287207"/>
            <a:ext cx="57607" cy="1047902"/>
          </a:xfrm>
          <a:prstGeom prst="roundRect">
            <a:avLst>
              <a:gd name="adj" fmla="val 131746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gen-dedup-da4f7211f41f756cf64e45aab2aea8cf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14400" y="3810305"/>
            <a:ext cx="57607" cy="4000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5698" y="5619902"/>
            <a:ext cx="304495" cy="3840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5162702" y="5619902"/>
            <a:ext cx="38405" cy="30449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gen-dedup-da4f7211f41f756cf64e45aab2aea8cf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5352898" y="3810305"/>
            <a:ext cx="57607" cy="40005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34195" y="5619902"/>
            <a:ext cx="304495" cy="3840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9"/>
          <p:cNvSpPr/>
          <p:nvPr/>
        </p:nvSpPr>
        <p:spPr>
          <a:xfrm>
            <a:off x="9601200" y="5619902"/>
            <a:ext cx="38405" cy="30449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3" descr="gen-dedup-da4f7211f41f756cf64e45aab2aea8cf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791395" y="3810305"/>
            <a:ext cx="57607" cy="40005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3773607" y="5619902"/>
            <a:ext cx="304495" cy="3840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1"/>
          <p:cNvSpPr/>
          <p:nvPr/>
        </p:nvSpPr>
        <p:spPr>
          <a:xfrm>
            <a:off x="14039698" y="5619902"/>
            <a:ext cx="38405" cy="304495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4" descr="gen-dedup-da4f7211f41f756cf64e45aab2aea8cf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4230807" y="3810305"/>
            <a:ext cx="57607" cy="40005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0 / 進め方</a:t>
            </a:r>
            <a:endParaRPr lang="en-US" sz="1100"/>
          </a:p>
        </p:txBody>
      </p:sp>
      <p:sp>
        <p:nvSpPr>
          <p:cNvPr id="20" name="Text 13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 そのものを、資産にする</a:t>
            </a:r>
            <a:endParaRPr lang="en-US" sz="4800"/>
          </a:p>
        </p:txBody>
      </p:sp>
      <p:sp>
        <p:nvSpPr>
          <p:cNvPr id="21" name="Text 14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「課題整理 → AI生成 → デモ → 改善issue」を一周できたらゴール。繰り返すほど精度が上がる。</a:t>
            </a:r>
            <a:endParaRPr lang="en-US" sz="1600"/>
          </a:p>
        </p:txBody>
      </p:sp>
      <p:sp>
        <p:nvSpPr>
          <p:cNvPr id="22" name="Text 15"/>
          <p:cNvSpPr txBox="1"/>
          <p:nvPr/>
        </p:nvSpPr>
        <p:spPr>
          <a:xfrm>
            <a:off x="1295705" y="41532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1000"/>
          </a:p>
        </p:txBody>
      </p:sp>
      <p:sp>
        <p:nvSpPr>
          <p:cNvPr id="23" name="Text 16"/>
          <p:cNvSpPr txBox="1"/>
          <p:nvPr/>
        </p:nvSpPr>
        <p:spPr>
          <a:xfrm>
            <a:off x="1295705" y="4524451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</a:t>
            </a:r>
            <a:endParaRPr lang="en-US" sz="2700"/>
          </a:p>
        </p:txBody>
      </p:sp>
      <p:pic>
        <p:nvPicPr>
          <p:cNvPr id="24" name="Image 5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1295705" y="5210251"/>
            <a:ext cx="304495" cy="2834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95705" y="5429707"/>
            <a:ext cx="31437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課題整理用カスタムエージェントとの対話で、自分の作業をまとめる。</a:t>
            </a:r>
            <a:endParaRPr lang="en-US" sz="1400"/>
          </a:p>
        </p:txBody>
      </p:sp>
      <p:sp>
        <p:nvSpPr>
          <p:cNvPr id="26" name="Text 18"/>
          <p:cNvSpPr txBox="1"/>
          <p:nvPr/>
        </p:nvSpPr>
        <p:spPr>
          <a:xfrm>
            <a:off x="5734202" y="41532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1000"/>
          </a:p>
        </p:txBody>
      </p:sp>
      <p:sp>
        <p:nvSpPr>
          <p:cNvPr id="27" name="Text 19"/>
          <p:cNvSpPr txBox="1"/>
          <p:nvPr/>
        </p:nvSpPr>
        <p:spPr>
          <a:xfrm>
            <a:off x="5734202" y="4524451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AI生成</a:t>
            </a:r>
            <a:endParaRPr lang="en-US" sz="2700"/>
          </a:p>
        </p:txBody>
      </p:sp>
      <p:pic>
        <p:nvPicPr>
          <p:cNvPr id="28" name="Image 6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5734202" y="5210251"/>
            <a:ext cx="304495" cy="2834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734202" y="5429707"/>
            <a:ext cx="31437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 / Instruction (Rule) / Agent / Hook を一括生成。</a:t>
            </a:r>
            <a:endParaRPr lang="en-US" sz="1400"/>
          </a:p>
        </p:txBody>
      </p:sp>
      <p:sp>
        <p:nvSpPr>
          <p:cNvPr id="30" name="Text 21"/>
          <p:cNvSpPr txBox="1"/>
          <p:nvPr/>
        </p:nvSpPr>
        <p:spPr>
          <a:xfrm>
            <a:off x="10172700" y="41532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1000"/>
          </a:p>
        </p:txBody>
      </p:sp>
      <p:sp>
        <p:nvSpPr>
          <p:cNvPr id="31" name="Text 22"/>
          <p:cNvSpPr txBox="1"/>
          <p:nvPr/>
        </p:nvSpPr>
        <p:spPr>
          <a:xfrm>
            <a:off x="10172700" y="4524451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</a:t>
            </a:r>
            <a:endParaRPr lang="en-US" sz="2700"/>
          </a:p>
        </p:txBody>
      </p:sp>
      <p:pic>
        <p:nvPicPr>
          <p:cNvPr id="32" name="Image 7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10172700" y="5210251"/>
            <a:ext cx="304495" cy="2834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172700" y="5429707"/>
            <a:ext cx="31437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作った仕組みを実際に動かして、狙い通りに動くか確かめる。</a:t>
            </a:r>
            <a:endParaRPr lang="en-US" sz="1400"/>
          </a:p>
        </p:txBody>
      </p:sp>
      <p:sp>
        <p:nvSpPr>
          <p:cNvPr id="34" name="Text 24"/>
          <p:cNvSpPr txBox="1"/>
          <p:nvPr/>
        </p:nvSpPr>
        <p:spPr>
          <a:xfrm>
            <a:off x="14611198" y="41532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1000"/>
          </a:p>
        </p:txBody>
      </p:sp>
      <p:sp>
        <p:nvSpPr>
          <p:cNvPr id="35" name="Text 25"/>
          <p:cNvSpPr txBox="1"/>
          <p:nvPr/>
        </p:nvSpPr>
        <p:spPr>
          <a:xfrm>
            <a:off x="14611198" y="4524451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改善issue</a:t>
            </a:r>
            <a:endParaRPr lang="en-US" sz="2700"/>
          </a:p>
        </p:txBody>
      </p:sp>
      <p:pic>
        <p:nvPicPr>
          <p:cNvPr id="36" name="Image 8" descr="gen-dedup-526bd41c8501402b8885f3432a03e66d.png"/>
          <p:cNvPicPr>
            <a:picLocks noChangeAspect="1"/>
          </p:cNvPicPr>
          <p:nvPr/>
        </p:nvPicPr>
        <p:blipFill>
          <a:blip r:embed="rId5"/>
          <a:srcRect l="-353" r="-353"/>
          <a:stretch/>
        </p:blipFill>
        <p:spPr>
          <a:xfrm>
            <a:off x="14611198" y="5210251"/>
            <a:ext cx="304495" cy="2834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4611198" y="5429707"/>
            <a:ext cx="31437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次の一周への入力。loop が回り始める。</a:t>
            </a:r>
            <a:endParaRPr lang="en-US" sz="1400"/>
          </a:p>
        </p:txBody>
      </p:sp>
      <p:sp>
        <p:nvSpPr>
          <p:cNvPr id="38" name="Text 27"/>
          <p:cNvSpPr txBox="1"/>
          <p:nvPr/>
        </p:nvSpPr>
        <p:spPr>
          <a:xfrm>
            <a:off x="1333195" y="8600846"/>
            <a:ext cx="857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10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GOAL</a:t>
            </a:r>
            <a:endParaRPr lang="en-US" sz="1000"/>
          </a:p>
        </p:txBody>
      </p:sp>
      <p:sp>
        <p:nvSpPr>
          <p:cNvPr id="39" name="Text 28"/>
          <p:cNvSpPr txBox="1"/>
          <p:nvPr/>
        </p:nvSpPr>
        <p:spPr>
          <a:xfrm>
            <a:off x="2419502" y="8524951"/>
            <a:ext cx="68397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 1 周。持ち帰って各自のリポジトリで回し続けるのが本番。</a:t>
            </a:r>
            <a:endParaRPr lang="en-US" sz="1800"/>
          </a:p>
        </p:txBody>
      </p:sp>
      <p:sp>
        <p:nvSpPr>
          <p:cNvPr id="40" name="Text 29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41" name="Text 30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31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286707"/>
            <a:ext cx="164207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4286707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667451"/>
            <a:ext cx="164207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667451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7048195"/>
            <a:ext cx="164207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7048195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8429854"/>
            <a:ext cx="1642079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8429854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1 / 棚卸し</a:t>
            </a:r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繰り返し作業を、書き出す</a:t>
            </a:r>
            <a:endParaRPr lang="en-US" sz="4800"/>
          </a:p>
        </p:txBody>
      </p:sp>
      <p:sp>
        <p:nvSpPr>
          <p:cNvPr id="13" name="Text 10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 の燃料は自分の繰り返し作業。まず手で書き出して、AI化候補を見つける。</a:t>
            </a:r>
            <a:endParaRPr lang="en-US" sz="1600"/>
          </a:p>
        </p:txBody>
      </p:sp>
      <p:sp>
        <p:nvSpPr>
          <p:cNvPr id="14" name="Text 11"/>
          <p:cNvSpPr txBox="1"/>
          <p:nvPr/>
        </p:nvSpPr>
        <p:spPr>
          <a:xfrm>
            <a:off x="914400" y="3810305"/>
            <a:ext cx="164217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TO INVENTORY</a:t>
            </a:r>
            <a:endParaRPr lang="en-US" sz="1000"/>
          </a:p>
        </p:txBody>
      </p:sp>
      <p:sp>
        <p:nvSpPr>
          <p:cNvPr id="15" name="Text 12"/>
          <p:cNvSpPr txBox="1"/>
          <p:nvPr/>
        </p:nvSpPr>
        <p:spPr>
          <a:xfrm>
            <a:off x="1333195" y="4678985"/>
            <a:ext cx="571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/>
          </a:p>
        </p:txBody>
      </p:sp>
      <p:sp>
        <p:nvSpPr>
          <p:cNvPr id="16" name="Text 13"/>
          <p:cNvSpPr txBox="1"/>
          <p:nvPr/>
        </p:nvSpPr>
        <p:spPr>
          <a:xfrm>
            <a:off x="2210105" y="4524451"/>
            <a:ext cx="79251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直近で 3 回以上やった作業をリストアップ</a:t>
            </a:r>
            <a:endParaRPr lang="en-US" sz="1900"/>
          </a:p>
        </p:txBody>
      </p:sp>
      <p:sp>
        <p:nvSpPr>
          <p:cNvPr id="17" name="Text 14"/>
          <p:cNvSpPr txBox="1"/>
          <p:nvPr/>
        </p:nvSpPr>
        <p:spPr>
          <a:xfrm>
            <a:off x="2210105" y="4953305"/>
            <a:ext cx="79251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思い出せるだけ書く。ジャンルはコード生成に限らない（調査、資料作成、運用、定型連絡 etc.）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1333195" y="6059729"/>
            <a:ext cx="571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/>
          </a:p>
        </p:txBody>
      </p:sp>
      <p:sp>
        <p:nvSpPr>
          <p:cNvPr id="19" name="Text 16"/>
          <p:cNvSpPr txBox="1"/>
          <p:nvPr/>
        </p:nvSpPr>
        <p:spPr>
          <a:xfrm>
            <a:off x="2210105" y="5905195"/>
            <a:ext cx="679307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各作業に「手順 / 入力 / 出力 / つまずき」を一言添える</a:t>
            </a:r>
            <a:endParaRPr lang="en-US" sz="1900"/>
          </a:p>
        </p:txBody>
      </p:sp>
      <p:sp>
        <p:nvSpPr>
          <p:cNvPr id="20" name="Text 17"/>
          <p:cNvSpPr txBox="1"/>
          <p:nvPr/>
        </p:nvSpPr>
        <p:spPr>
          <a:xfrm>
            <a:off x="2210105" y="6334049"/>
            <a:ext cx="6182258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言語化しておくと、後で AI に渡しやすい</a:t>
            </a:r>
            <a:endParaRPr lang="en-US" sz="1400"/>
          </a:p>
        </p:txBody>
      </p:sp>
      <p:sp>
        <p:nvSpPr>
          <p:cNvPr id="21" name="Text 18"/>
          <p:cNvSpPr txBox="1"/>
          <p:nvPr/>
        </p:nvSpPr>
        <p:spPr>
          <a:xfrm>
            <a:off x="1333195" y="7440473"/>
            <a:ext cx="571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/>
          </a:p>
        </p:txBody>
      </p:sp>
      <p:sp>
        <p:nvSpPr>
          <p:cNvPr id="22" name="Text 19"/>
          <p:cNvSpPr txBox="1"/>
          <p:nvPr/>
        </p:nvSpPr>
        <p:spPr>
          <a:xfrm>
            <a:off x="2210105" y="7286854"/>
            <a:ext cx="59436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「面倒・毎回ググる・コピペ」が多いものが良い候補</a:t>
            </a:r>
            <a:endParaRPr lang="en-US" sz="1900"/>
          </a:p>
        </p:txBody>
      </p:sp>
      <p:sp>
        <p:nvSpPr>
          <p:cNvPr id="23" name="Text 20"/>
          <p:cNvSpPr txBox="1"/>
          <p:nvPr/>
        </p:nvSpPr>
        <p:spPr>
          <a:xfrm>
            <a:off x="2210105" y="7715707"/>
            <a:ext cx="5943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つまずきが多いほど、AI 化の効果が大きい</a:t>
            </a:r>
            <a:endParaRPr lang="en-US" sz="1400"/>
          </a:p>
        </p:txBody>
      </p:sp>
      <p:sp>
        <p:nvSpPr>
          <p:cNvPr id="24" name="Text 21"/>
          <p:cNvSpPr txBox="1"/>
          <p:nvPr/>
        </p:nvSpPr>
        <p:spPr>
          <a:xfrm>
            <a:off x="1333195" y="8822131"/>
            <a:ext cx="571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/>
          </a:p>
        </p:txBody>
      </p:sp>
      <p:sp>
        <p:nvSpPr>
          <p:cNvPr id="25" name="Text 22"/>
          <p:cNvSpPr txBox="1"/>
          <p:nvPr/>
        </p:nvSpPr>
        <p:spPr>
          <a:xfrm>
            <a:off x="2210105" y="8667598"/>
            <a:ext cx="452079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つ選ぶ — 本日はこれを AI 化する</a:t>
            </a:r>
            <a:endParaRPr lang="en-US" sz="1900"/>
          </a:p>
        </p:txBody>
      </p:sp>
      <p:sp>
        <p:nvSpPr>
          <p:cNvPr id="26" name="Text 23"/>
          <p:cNvSpPr txBox="1"/>
          <p:nvPr/>
        </p:nvSpPr>
        <p:spPr>
          <a:xfrm>
            <a:off x="2210105" y="9096451"/>
            <a:ext cx="39630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迷ったら「今日の自分が助かるもの」を選ぶ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28" name="Text 25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31</a:t>
            </a:r>
            <a:endParaRPr lang="en-US" sz="100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E5B6BFA3-DF46-594A-5B24-D270BAD61C4A}"/>
              </a:ext>
            </a:extLst>
          </p:cNvPr>
          <p:cNvSpPr txBox="1"/>
          <p:nvPr/>
        </p:nvSpPr>
        <p:spPr>
          <a:xfrm>
            <a:off x="860917" y="2954882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/>
              <a:t>5 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429000"/>
            <a:ext cx="16420795" cy="1143000"/>
          </a:xfrm>
          <a:prstGeom prst="roundRect">
            <a:avLst>
              <a:gd name="adj" fmla="val 10000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51891" y="4823460"/>
            <a:ext cx="10001707" cy="4476902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11144707" y="4858207"/>
            <a:ext cx="6191402" cy="4476902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gen-dedup-5942d4439a9a14ba19e32ed72d3364e7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914400" y="4858207"/>
            <a:ext cx="57607" cy="4476902"/>
          </a:xfrm>
          <a:prstGeom prst="rect">
            <a:avLst/>
          </a:prstGeom>
        </p:spPr>
      </p:pic>
      <p:pic>
        <p:nvPicPr>
          <p:cNvPr id="7" name="Image 2" descr="gen-dedup-5942d4439a9a14ba19e32ed72d3364e7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11144707" y="4858207"/>
            <a:ext cx="57607" cy="44769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2 / リポジトリを用意</a:t>
            </a:r>
            <a:endParaRPr lang="en-US" sz="1100"/>
          </a:p>
        </p:txBody>
      </p:sp>
      <p:sp>
        <p:nvSpPr>
          <p:cNvPr id="9" name="Text 4"/>
          <p:cNvSpPr txBox="1"/>
          <p:nvPr/>
        </p:nvSpPr>
        <p:spPr>
          <a:xfrm>
            <a:off x="914400" y="1238098"/>
            <a:ext cx="1638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ハンズオン用リポジトリを取得</a:t>
            </a:r>
            <a:endParaRPr lang="en-US" sz="4500"/>
          </a:p>
        </p:txBody>
      </p:sp>
      <p:sp>
        <p:nvSpPr>
          <p:cNvPr id="10" name="Text 5"/>
          <p:cNvSpPr txBox="1"/>
          <p:nvPr/>
        </p:nvSpPr>
        <p:spPr>
          <a:xfrm>
            <a:off x="914400" y="2381098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課題整理エージェントと 4 点セットが同梱済み。皆さんはこれを使って自分の作業を AI 化する。</a:t>
            </a:r>
            <a:endParaRPr lang="en-US" sz="1600"/>
          </a:p>
        </p:txBody>
      </p:sp>
      <p:sp>
        <p:nvSpPr>
          <p:cNvPr id="11" name="Shape 6"/>
          <p:cNvSpPr/>
          <p:nvPr/>
        </p:nvSpPr>
        <p:spPr>
          <a:xfrm>
            <a:off x="1333195" y="3795674"/>
            <a:ext cx="1285646" cy="304495"/>
          </a:xfrm>
          <a:prstGeom prst="roundRect">
            <a:avLst>
              <a:gd name="adj" fmla="val 50150"/>
            </a:avLst>
          </a:prstGeom>
          <a:solidFill>
            <a:srgbClr val="7EE2FF">
              <a:alpha val="12000"/>
            </a:srgbClr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1333195" y="3795674"/>
            <a:ext cx="12865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900" kern="0" spc="195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900"/>
          </a:p>
        </p:txBody>
      </p:sp>
      <p:sp>
        <p:nvSpPr>
          <p:cNvPr id="13" name="Text 8"/>
          <p:cNvSpPr txBox="1"/>
          <p:nvPr/>
        </p:nvSpPr>
        <p:spPr>
          <a:xfrm>
            <a:off x="2838298" y="3696005"/>
            <a:ext cx="54105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github.com/JMASystems/all_common_ai_handson</a:t>
            </a:r>
            <a:endParaRPr lang="en-US" sz="1600"/>
          </a:p>
        </p:txBody>
      </p:sp>
      <p:sp>
        <p:nvSpPr>
          <p:cNvPr id="14" name="Text 9"/>
          <p:cNvSpPr txBox="1"/>
          <p:nvPr/>
        </p:nvSpPr>
        <p:spPr>
          <a:xfrm>
            <a:off x="2838298" y="4009644"/>
            <a:ext cx="54105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 URL のリポジトリを clone / fork して手元に用意</a:t>
            </a:r>
            <a:endParaRPr lang="en-US" sz="1000"/>
          </a:p>
        </p:txBody>
      </p:sp>
      <p:sp>
        <p:nvSpPr>
          <p:cNvPr id="15" name="Text 10"/>
          <p:cNvSpPr txBox="1"/>
          <p:nvPr/>
        </p:nvSpPr>
        <p:spPr>
          <a:xfrm>
            <a:off x="1295705" y="5143500"/>
            <a:ext cx="9240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INSIDE</a:t>
            </a:r>
            <a:endParaRPr lang="en-US" sz="1000"/>
          </a:p>
        </p:txBody>
      </p:sp>
      <p:sp>
        <p:nvSpPr>
          <p:cNvPr id="16" name="Text 11"/>
          <p:cNvSpPr txBox="1"/>
          <p:nvPr/>
        </p:nvSpPr>
        <p:spPr>
          <a:xfrm>
            <a:off x="1295705" y="5477256"/>
            <a:ext cx="9240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リポジトリに用意されているもの</a:t>
            </a:r>
            <a:endParaRPr lang="en-US" sz="1900"/>
          </a:p>
        </p:txBody>
      </p:sp>
      <p:pic>
        <p:nvPicPr>
          <p:cNvPr id="17" name="Image 3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295705" y="6077102"/>
            <a:ext cx="457200" cy="2834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5705" y="6353251"/>
            <a:ext cx="305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/>
          </a:p>
        </p:txBody>
      </p:sp>
      <p:sp>
        <p:nvSpPr>
          <p:cNvPr id="19" name="Text 13"/>
          <p:cNvSpPr txBox="1"/>
          <p:nvPr/>
        </p:nvSpPr>
        <p:spPr>
          <a:xfrm>
            <a:off x="1601115" y="6319417"/>
            <a:ext cx="69723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err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課題整理エージェント</a:t>
            </a:r>
            <a:r>
              <a:rPr lang="ja-JP" alt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en-US" altLang="ja-JP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 Management Agent</a:t>
            </a:r>
            <a:r>
              <a:rPr lang="ja-JP" alt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</a:t>
            </a:r>
            <a:r>
              <a:rPr lang="en-US" sz="1400" err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皆さんの作業を対話でまとめてくれるカスタムエージェント</a:t>
            </a:r>
            <a:endParaRPr lang="en-US" sz="1400"/>
          </a:p>
        </p:txBody>
      </p:sp>
      <p:sp>
        <p:nvSpPr>
          <p:cNvPr id="20" name="Text 14"/>
          <p:cNvSpPr txBox="1"/>
          <p:nvPr/>
        </p:nvSpPr>
        <p:spPr>
          <a:xfrm>
            <a:off x="1295705" y="6814109"/>
            <a:ext cx="305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/>
          </a:p>
        </p:txBody>
      </p:sp>
      <p:sp>
        <p:nvSpPr>
          <p:cNvPr id="21" name="Text 15"/>
          <p:cNvSpPr txBox="1"/>
          <p:nvPr/>
        </p:nvSpPr>
        <p:spPr>
          <a:xfrm>
            <a:off x="1601115" y="6808517"/>
            <a:ext cx="5943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上記エージェントが使用する</a:t>
            </a: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Skill / Instruction (Rule) / Hook 一式</a:t>
            </a:r>
            <a:endParaRPr lang="en-US" sz="1400"/>
          </a:p>
        </p:txBody>
      </p:sp>
      <p:sp>
        <p:nvSpPr>
          <p:cNvPr id="22" name="Text 16"/>
          <p:cNvSpPr txBox="1"/>
          <p:nvPr/>
        </p:nvSpPr>
        <p:spPr>
          <a:xfrm>
            <a:off x="1295705" y="7274966"/>
            <a:ext cx="305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/>
          </a:p>
        </p:txBody>
      </p:sp>
      <p:sp>
        <p:nvSpPr>
          <p:cNvPr id="23" name="Text 17"/>
          <p:cNvSpPr txBox="1"/>
          <p:nvPr/>
        </p:nvSpPr>
        <p:spPr>
          <a:xfrm>
            <a:off x="1601115" y="7270289"/>
            <a:ext cx="475305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.github/ </a:t>
            </a: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 4 点セット構造（座学 4・5 で説明した形）</a:t>
            </a:r>
            <a:endParaRPr lang="en-US" sz="1400"/>
          </a:p>
        </p:txBody>
      </p:sp>
      <p:sp>
        <p:nvSpPr>
          <p:cNvPr id="24" name="Text 18"/>
          <p:cNvSpPr txBox="1"/>
          <p:nvPr/>
        </p:nvSpPr>
        <p:spPr>
          <a:xfrm>
            <a:off x="1295705" y="7735824"/>
            <a:ext cx="305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/>
          </a:p>
        </p:txBody>
      </p:sp>
      <p:sp>
        <p:nvSpPr>
          <p:cNvPr id="25" name="Text 19"/>
          <p:cNvSpPr txBox="1"/>
          <p:nvPr/>
        </p:nvSpPr>
        <p:spPr>
          <a:xfrm>
            <a:off x="1601115" y="7731147"/>
            <a:ext cx="330738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 issue 用の </a:t>
            </a:r>
            <a:r>
              <a:rPr lang="en-US" sz="12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ISSUE_TEMPLATE/ </a:t>
            </a:r>
            <a:endParaRPr lang="en-US" sz="1400"/>
          </a:p>
        </p:txBody>
      </p:sp>
      <p:sp>
        <p:nvSpPr>
          <p:cNvPr id="26" name="Text 20"/>
          <p:cNvSpPr txBox="1"/>
          <p:nvPr/>
        </p:nvSpPr>
        <p:spPr>
          <a:xfrm>
            <a:off x="11525098" y="5143500"/>
            <a:ext cx="5429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DO</a:t>
            </a:r>
            <a:endParaRPr lang="en-US" sz="1000"/>
          </a:p>
        </p:txBody>
      </p:sp>
      <p:sp>
        <p:nvSpPr>
          <p:cNvPr id="27" name="Text 21"/>
          <p:cNvSpPr txBox="1"/>
          <p:nvPr/>
        </p:nvSpPr>
        <p:spPr>
          <a:xfrm>
            <a:off x="11525098" y="5477256"/>
            <a:ext cx="54297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皆さんがやること</a:t>
            </a:r>
            <a:endParaRPr lang="en-US" sz="1900"/>
          </a:p>
        </p:txBody>
      </p:sp>
      <p:pic>
        <p:nvPicPr>
          <p:cNvPr id="28" name="Image 4" descr="gen-dedup-dbcafa176615008d05736844ca5c533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525098" y="6077102"/>
            <a:ext cx="457200" cy="2834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525098" y="6372454"/>
            <a:ext cx="247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1906402" y="6334049"/>
            <a:ext cx="251642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clone / fork して手元に用意</a:t>
            </a:r>
            <a:endParaRPr lang="en-US" sz="1300"/>
          </a:p>
        </p:txBody>
      </p:sp>
      <p:sp>
        <p:nvSpPr>
          <p:cNvPr id="31" name="Text 24"/>
          <p:cNvSpPr txBox="1"/>
          <p:nvPr/>
        </p:nvSpPr>
        <p:spPr>
          <a:xfrm>
            <a:off x="11525098" y="6798564"/>
            <a:ext cx="247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</a:t>
            </a:r>
            <a:endParaRPr lang="en-US" sz="1200"/>
          </a:p>
        </p:txBody>
      </p:sp>
      <p:sp>
        <p:nvSpPr>
          <p:cNvPr id="32" name="Text 25"/>
          <p:cNvSpPr txBox="1"/>
          <p:nvPr/>
        </p:nvSpPr>
        <p:spPr>
          <a:xfrm>
            <a:off x="11906402" y="6726326"/>
            <a:ext cx="2057400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課題整理エージェントに</a:t>
            </a:r>
            <a:endParaRPr lang="en-US" sz="130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自分の作業をまとめさせる</a:t>
            </a:r>
            <a:endParaRPr lang="en-US" sz="1300"/>
          </a:p>
        </p:txBody>
      </p:sp>
      <p:sp>
        <p:nvSpPr>
          <p:cNvPr id="33" name="Text 26"/>
          <p:cNvSpPr txBox="1"/>
          <p:nvPr/>
        </p:nvSpPr>
        <p:spPr>
          <a:xfrm>
            <a:off x="11525098" y="7499909"/>
            <a:ext cx="247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11906402" y="7461504"/>
            <a:ext cx="358719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/ Skill / Instruction / Hook を生成</a:t>
            </a:r>
            <a:endParaRPr lang="en-US" sz="1300"/>
          </a:p>
        </p:txBody>
      </p:sp>
      <p:sp>
        <p:nvSpPr>
          <p:cNvPr id="35" name="Text 28"/>
          <p:cNvSpPr txBox="1"/>
          <p:nvPr/>
        </p:nvSpPr>
        <p:spPr>
          <a:xfrm>
            <a:off x="11525098" y="7926934"/>
            <a:ext cx="247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</a:t>
            </a:r>
            <a:endParaRPr lang="en-US" sz="1200"/>
          </a:p>
        </p:txBody>
      </p:sp>
      <p:sp>
        <p:nvSpPr>
          <p:cNvPr id="36" name="Text 29"/>
          <p:cNvSpPr txBox="1"/>
          <p:nvPr/>
        </p:nvSpPr>
        <p:spPr>
          <a:xfrm>
            <a:off x="11906402" y="7888529"/>
            <a:ext cx="210860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に自分のタスクを委譲</a:t>
            </a:r>
            <a:endParaRPr lang="en-US" sz="1300"/>
          </a:p>
        </p:txBody>
      </p:sp>
      <p:sp>
        <p:nvSpPr>
          <p:cNvPr id="37" name="Text 30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8" name="Text 31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31</a:t>
            </a:r>
            <a:endParaRPr lang="en-US" sz="100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69704DB-492C-6192-A58D-A4B9464012E1}"/>
              </a:ext>
            </a:extLst>
          </p:cNvPr>
          <p:cNvSpPr txBox="1"/>
          <p:nvPr/>
        </p:nvSpPr>
        <p:spPr>
          <a:xfrm>
            <a:off x="860917" y="2954882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/>
              <a:t>5 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7239305" cy="5524805"/>
          </a:xfrm>
          <a:prstGeom prst="roundRect">
            <a:avLst>
              <a:gd name="adj" fmla="val 2069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8572500" y="4190695"/>
            <a:ext cx="8762695" cy="838505"/>
          </a:xfrm>
          <a:prstGeom prst="roundRect">
            <a:avLst>
              <a:gd name="adj" fmla="val 68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8572500" y="4190695"/>
            <a:ext cx="47549" cy="838505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8572500" y="5124298"/>
            <a:ext cx="8762695" cy="838505"/>
          </a:xfrm>
          <a:prstGeom prst="roundRect">
            <a:avLst>
              <a:gd name="adj" fmla="val 68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8572500" y="5124298"/>
            <a:ext cx="47549" cy="838505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8572500" y="6057900"/>
            <a:ext cx="8762695" cy="838505"/>
          </a:xfrm>
          <a:prstGeom prst="roundRect">
            <a:avLst>
              <a:gd name="adj" fmla="val 68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8572500" y="6057900"/>
            <a:ext cx="47549" cy="838505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572500" y="6991502"/>
            <a:ext cx="8762695" cy="838505"/>
          </a:xfrm>
          <a:prstGeom prst="roundRect">
            <a:avLst>
              <a:gd name="adj" fmla="val 68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8572500" y="6991502"/>
            <a:ext cx="47549" cy="838505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8572500" y="7925105"/>
            <a:ext cx="8762695" cy="838505"/>
          </a:xfrm>
          <a:prstGeom prst="roundRect">
            <a:avLst>
              <a:gd name="adj" fmla="val 687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572500" y="7925105"/>
            <a:ext cx="47549" cy="838505"/>
          </a:xfrm>
          <a:prstGeom prst="roundRect">
            <a:avLst>
              <a:gd name="adj" fmla="val 121153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2 / .github 配下を確認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資産の“置き場”を確認する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が参照する前提・手順・役割・安全装置を確認する。ここが AI 駆動業務の資産置き場になる。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295705" y="4143146"/>
            <a:ext cx="114300" cy="114300"/>
          </a:xfrm>
          <a:prstGeom prst="ellipse">
            <a:avLst/>
          </a:prstGeom>
          <a:solidFill>
            <a:srgbClr val="FF60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1505102" y="4143146"/>
            <a:ext cx="114300" cy="114300"/>
          </a:xfrm>
          <a:prstGeom prst="ellipse">
            <a:avLst/>
          </a:prstGeom>
          <a:solidFill>
            <a:srgbClr val="FFBD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1714500" y="4143146"/>
            <a:ext cx="114300" cy="114300"/>
          </a:xfrm>
          <a:prstGeom prst="ellipse">
            <a:avLst/>
          </a:prstGeom>
          <a:solidFill>
            <a:srgbClr val="00C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2038198" y="4114800"/>
            <a:ext cx="600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295705" y="4476902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.github/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295705" y="4876495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copilot-instructions.md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295705" y="5277002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295705" y="5676595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295705" y="6077102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295705" y="6467551"/>
            <a:ext cx="6477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en-US" altLang="ja-JP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8572500" y="3810305"/>
            <a:ext cx="8763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168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INSIDE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858707" y="4371746"/>
            <a:ext cx="2667305" cy="237744"/>
          </a:xfrm>
          <a:prstGeom prst="roundRect">
            <a:avLst>
              <a:gd name="adj" fmla="val 1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0" name="Text 27"/>
          <p:cNvSpPr txBox="1"/>
          <p:nvPr/>
        </p:nvSpPr>
        <p:spPr>
          <a:xfrm>
            <a:off x="8858707" y="4371746"/>
            <a:ext cx="2667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550A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copilot-instructions.md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1716207" y="4343400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リポジトリ全体の前提・方針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858707" y="5305349"/>
            <a:ext cx="2667305" cy="237744"/>
          </a:xfrm>
          <a:prstGeom prst="roundRect">
            <a:avLst>
              <a:gd name="adj" fmla="val 1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3" name="Text 30"/>
          <p:cNvSpPr txBox="1"/>
          <p:nvPr/>
        </p:nvSpPr>
        <p:spPr>
          <a:xfrm>
            <a:off x="8858707" y="5305349"/>
            <a:ext cx="2667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550A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11716207" y="52770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常時適用したい規約・制約・判断基準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858707" y="6238951"/>
            <a:ext cx="2667305" cy="237744"/>
          </a:xfrm>
          <a:prstGeom prst="roundRect">
            <a:avLst>
              <a:gd name="adj" fmla="val 1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6" name="Text 33"/>
          <p:cNvSpPr txBox="1"/>
          <p:nvPr/>
        </p:nvSpPr>
        <p:spPr>
          <a:xfrm>
            <a:off x="8858707" y="6238951"/>
            <a:ext cx="2667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550A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11716207" y="6210605"/>
            <a:ext cx="171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役割特化エージェント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858707" y="7172554"/>
            <a:ext cx="2667305" cy="237744"/>
          </a:xfrm>
          <a:prstGeom prst="roundRect">
            <a:avLst>
              <a:gd name="adj" fmla="val 1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9" name="Text 36"/>
          <p:cNvSpPr txBox="1"/>
          <p:nvPr/>
        </p:nvSpPr>
        <p:spPr>
          <a:xfrm>
            <a:off x="8858707" y="7172554"/>
            <a:ext cx="2667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550A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11716207" y="7144207"/>
            <a:ext cx="15435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再利用する作業手順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858707" y="8106156"/>
            <a:ext cx="2667305" cy="237744"/>
          </a:xfrm>
          <a:prstGeom prst="roundRect">
            <a:avLst>
              <a:gd name="adj" fmla="val 1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42" name="Text 39"/>
          <p:cNvSpPr txBox="1"/>
          <p:nvPr/>
        </p:nvSpPr>
        <p:spPr>
          <a:xfrm>
            <a:off x="8858707" y="8106156"/>
            <a:ext cx="26673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550A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hooks/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1716207" y="8076894"/>
            <a:ext cx="5286332" cy="26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en-US" altLang="ja-JP" sz="1400" err="1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エージェント実行の各タイミング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でカスタム シェル コマンドを実行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6A79F90D-CFD4-0BDC-5574-314EB408BF66}"/>
              </a:ext>
            </a:extLst>
          </p:cNvPr>
          <p:cNvSpPr txBox="1"/>
          <p:nvPr/>
        </p:nvSpPr>
        <p:spPr>
          <a:xfrm>
            <a:off x="823427" y="2991231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/>
              <a:t>5 min</a:t>
            </a: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9CD87475-C799-16CB-11AB-8234EE078124}"/>
              </a:ext>
            </a:extLst>
          </p:cNvPr>
          <p:cNvSpPr txBox="1"/>
          <p:nvPr/>
        </p:nvSpPr>
        <p:spPr>
          <a:xfrm>
            <a:off x="14919108" y="427940"/>
            <a:ext cx="31437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</a:t>
            </a:r>
            <a:r>
              <a:rPr lang="ja-JP" altLang="en-US" sz="14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事前にクローンする</a:t>
            </a:r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905402"/>
            <a:ext cx="952530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3905402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286146"/>
            <a:ext cx="952530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286146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67805"/>
            <a:ext cx="9525305" cy="1238098"/>
          </a:xfrm>
          <a:prstGeom prst="roundRect">
            <a:avLst>
              <a:gd name="adj" fmla="val 465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667805"/>
            <a:ext cx="57607" cy="1238098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8048549"/>
            <a:ext cx="9525305" cy="1619402"/>
          </a:xfrm>
          <a:prstGeom prst="roundRect">
            <a:avLst>
              <a:gd name="adj" fmla="val 355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8048549"/>
            <a:ext cx="57607" cy="1619402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10668305" y="3524098"/>
            <a:ext cx="6667805" cy="6143854"/>
          </a:xfrm>
          <a:prstGeom prst="roundRect">
            <a:avLst>
              <a:gd name="adj" fmla="val 1860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3 / 対話と一括生成</a:t>
            </a:r>
            <a:endParaRPr lang="en-US" sz="1100"/>
          </a:p>
        </p:txBody>
      </p:sp>
      <p:sp>
        <p:nvSpPr>
          <p:cNvPr id="13" name="Text 10"/>
          <p:cNvSpPr txBox="1"/>
          <p:nvPr/>
        </p:nvSpPr>
        <p:spPr>
          <a:xfrm>
            <a:off x="914400" y="1238098"/>
            <a:ext cx="1638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課題整理エージェントと対話 → 一括生成</a:t>
            </a:r>
            <a:endParaRPr lang="en-US" sz="4500"/>
          </a:p>
        </p:txBody>
      </p:sp>
      <p:sp>
        <p:nvSpPr>
          <p:cNvPr id="14" name="Text 11"/>
          <p:cNvSpPr txBox="1"/>
          <p:nvPr/>
        </p:nvSpPr>
        <p:spPr>
          <a:xfrm>
            <a:off x="914400" y="2381098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課題整理用カスタムエージェントに、選んだ作業を対話ベースで説明。分類・生成まで一気に走らせる。</a:t>
            </a:r>
            <a:endParaRPr lang="en-US" sz="1600"/>
          </a:p>
        </p:txBody>
      </p:sp>
      <p:sp>
        <p:nvSpPr>
          <p:cNvPr id="15" name="Text 12"/>
          <p:cNvSpPr txBox="1"/>
          <p:nvPr/>
        </p:nvSpPr>
        <p:spPr>
          <a:xfrm>
            <a:off x="914400" y="3524098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STEPS</a:t>
            </a:r>
            <a:endParaRPr lang="en-US" sz="1000"/>
          </a:p>
        </p:txBody>
      </p:sp>
      <p:sp>
        <p:nvSpPr>
          <p:cNvPr id="16" name="Text 13"/>
          <p:cNvSpPr txBox="1"/>
          <p:nvPr/>
        </p:nvSpPr>
        <p:spPr>
          <a:xfrm>
            <a:off x="1333195" y="4134002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00"/>
          </a:p>
        </p:txBody>
      </p:sp>
      <p:sp>
        <p:nvSpPr>
          <p:cNvPr id="17" name="Text 14"/>
          <p:cNvSpPr txBox="1"/>
          <p:nvPr/>
        </p:nvSpPr>
        <p:spPr>
          <a:xfrm>
            <a:off x="1821485" y="4143146"/>
            <a:ext cx="40581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選んだ作業を対話で説明</a:t>
            </a:r>
            <a:endParaRPr lang="en-US" sz="1600"/>
          </a:p>
        </p:txBody>
      </p:sp>
      <p:sp>
        <p:nvSpPr>
          <p:cNvPr id="18" name="Text 15"/>
          <p:cNvSpPr txBox="1"/>
          <p:nvPr/>
        </p:nvSpPr>
        <p:spPr>
          <a:xfrm>
            <a:off x="1821485" y="4505249"/>
            <a:ext cx="4058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棚卸しで選んだ 1 つを、課題整理エージェントに投げる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1333195" y="5514746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00"/>
          </a:p>
        </p:txBody>
      </p:sp>
      <p:sp>
        <p:nvSpPr>
          <p:cNvPr id="20" name="Text 17"/>
          <p:cNvSpPr txBox="1"/>
          <p:nvPr/>
        </p:nvSpPr>
        <p:spPr>
          <a:xfrm>
            <a:off x="1821485" y="5524805"/>
            <a:ext cx="3886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エージェントが質問で引き出す</a:t>
            </a:r>
            <a:endParaRPr lang="en-US" sz="1600"/>
          </a:p>
        </p:txBody>
      </p:sp>
      <p:sp>
        <p:nvSpPr>
          <p:cNvPr id="21" name="Text 18"/>
          <p:cNvSpPr txBox="1"/>
          <p:nvPr/>
        </p:nvSpPr>
        <p:spPr>
          <a:xfrm>
            <a:off x="1821485" y="5886907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手順・前提・禁止事項・自動化ポイントを対話で整理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1333195" y="6896405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00"/>
          </a:p>
        </p:txBody>
      </p:sp>
      <p:sp>
        <p:nvSpPr>
          <p:cNvPr id="23" name="Text 20"/>
          <p:cNvSpPr txBox="1"/>
          <p:nvPr/>
        </p:nvSpPr>
        <p:spPr>
          <a:xfrm>
            <a:off x="1821485" y="6905549"/>
            <a:ext cx="51819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 / rules / agent / hook に分類して一括生成</a:t>
            </a:r>
            <a:endParaRPr lang="en-US" sz="1600"/>
          </a:p>
        </p:txBody>
      </p:sp>
      <p:sp>
        <p:nvSpPr>
          <p:cNvPr id="24" name="Text 21"/>
          <p:cNvSpPr txBox="1"/>
          <p:nvPr/>
        </p:nvSpPr>
        <p:spPr>
          <a:xfrm>
            <a:off x="1821485" y="7267651"/>
            <a:ext cx="44961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対話結果を AI が振り分けて .github 配下に配置</a:t>
            </a:r>
            <a:endParaRPr lang="en-US" sz="1200"/>
          </a:p>
        </p:txBody>
      </p:sp>
      <p:sp>
        <p:nvSpPr>
          <p:cNvPr id="25" name="Text 22"/>
          <p:cNvSpPr txBox="1"/>
          <p:nvPr/>
        </p:nvSpPr>
        <p:spPr>
          <a:xfrm>
            <a:off x="1333195" y="8238744"/>
            <a:ext cx="305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00"/>
          </a:p>
        </p:txBody>
      </p:sp>
      <p:sp>
        <p:nvSpPr>
          <p:cNvPr id="26" name="Text 23"/>
          <p:cNvSpPr txBox="1"/>
          <p:nvPr/>
        </p:nvSpPr>
        <p:spPr>
          <a:xfrm>
            <a:off x="1821485" y="8248802"/>
            <a:ext cx="473842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生成後すぐ中身をレビュー — 任せきりにしない</a:t>
            </a:r>
            <a:endParaRPr lang="en-US" sz="1600"/>
          </a:p>
        </p:txBody>
      </p:sp>
      <p:sp>
        <p:nvSpPr>
          <p:cNvPr id="27" name="Text 24"/>
          <p:cNvSpPr txBox="1"/>
          <p:nvPr/>
        </p:nvSpPr>
        <p:spPr>
          <a:xfrm>
            <a:off x="1821485" y="8570671"/>
            <a:ext cx="4524451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右のレビュー観点で確認。</a:t>
            </a:r>
            <a:endParaRPr lang="en-US" sz="120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違和感があれば対話に戻して再生成する。</a:t>
            </a:r>
            <a:endParaRPr lang="en-US" sz="1200"/>
          </a:p>
        </p:txBody>
      </p:sp>
      <p:sp>
        <p:nvSpPr>
          <p:cNvPr id="28" name="Text 25"/>
          <p:cNvSpPr txBox="1"/>
          <p:nvPr/>
        </p:nvSpPr>
        <p:spPr>
          <a:xfrm>
            <a:off x="11048695" y="3829507"/>
            <a:ext cx="5906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 CHECKLIST</a:t>
            </a:r>
            <a:endParaRPr lang="en-US" sz="1000"/>
          </a:p>
        </p:txBody>
      </p:sp>
      <p:sp>
        <p:nvSpPr>
          <p:cNvPr id="29" name="Text 26"/>
          <p:cNvSpPr txBox="1"/>
          <p:nvPr/>
        </p:nvSpPr>
        <p:spPr>
          <a:xfrm>
            <a:off x="11048695" y="4162349"/>
            <a:ext cx="59061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人がレビューする観点</a:t>
            </a:r>
            <a:endParaRPr lang="en-US" sz="1900"/>
          </a:p>
        </p:txBody>
      </p:sp>
      <p:pic>
        <p:nvPicPr>
          <p:cNvPr id="30" name="Image 1" descr="gen-dedup-f304cd6ae658572d049b8c940d674612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048695" y="4699102"/>
            <a:ext cx="457200" cy="2834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1048695" y="496610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32" name="Text 28"/>
          <p:cNvSpPr txBox="1"/>
          <p:nvPr/>
        </p:nvSpPr>
        <p:spPr>
          <a:xfrm>
            <a:off x="11410798" y="4956962"/>
            <a:ext cx="393557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が自分の考えている手順を反映しているか</a:t>
            </a:r>
            <a:endParaRPr lang="en-US" sz="1300"/>
          </a:p>
        </p:txBody>
      </p:sp>
      <p:sp>
        <p:nvSpPr>
          <p:cNvPr id="33" name="Text 29"/>
          <p:cNvSpPr txBox="1"/>
          <p:nvPr/>
        </p:nvSpPr>
        <p:spPr>
          <a:xfrm>
            <a:off x="11048695" y="540319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34" name="Text 30"/>
          <p:cNvSpPr txBox="1"/>
          <p:nvPr/>
        </p:nvSpPr>
        <p:spPr>
          <a:xfrm>
            <a:off x="11410798" y="5394046"/>
            <a:ext cx="546354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 (Rule)</a:t>
            </a: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に、含めるべき禁止事項・前提が入っているか</a:t>
            </a:r>
            <a:endParaRPr lang="en-US" sz="1300"/>
          </a:p>
        </p:txBody>
      </p:sp>
      <p:sp>
        <p:nvSpPr>
          <p:cNvPr id="35" name="Text 31"/>
          <p:cNvSpPr txBox="1"/>
          <p:nvPr/>
        </p:nvSpPr>
        <p:spPr>
          <a:xfrm>
            <a:off x="11048695" y="58411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36" name="Text 32"/>
          <p:cNvSpPr txBox="1"/>
          <p:nvPr/>
        </p:nvSpPr>
        <p:spPr>
          <a:xfrm>
            <a:off x="11410798" y="5831129"/>
            <a:ext cx="391546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</a:t>
            </a: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が意図通りのタイミング・条件で発火するか</a:t>
            </a:r>
            <a:endParaRPr lang="en-US" sz="1300"/>
          </a:p>
        </p:txBody>
      </p:sp>
      <p:sp>
        <p:nvSpPr>
          <p:cNvPr id="37" name="Text 33"/>
          <p:cNvSpPr txBox="1"/>
          <p:nvPr/>
        </p:nvSpPr>
        <p:spPr>
          <a:xfrm>
            <a:off x="11048695" y="627827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38" name="Text 34"/>
          <p:cNvSpPr txBox="1"/>
          <p:nvPr/>
        </p:nvSpPr>
        <p:spPr>
          <a:xfrm>
            <a:off x="11410798" y="6268212"/>
            <a:ext cx="37911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の役割分担が過剰・過小になっていないか</a:t>
            </a:r>
            <a:endParaRPr lang="en-US" sz="1300"/>
          </a:p>
        </p:txBody>
      </p:sp>
      <p:sp>
        <p:nvSpPr>
          <p:cNvPr id="39" name="Text 35"/>
          <p:cNvSpPr txBox="1"/>
          <p:nvPr/>
        </p:nvSpPr>
        <p:spPr>
          <a:xfrm>
            <a:off x="11048695" y="671535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40" name="Text 36"/>
          <p:cNvSpPr txBox="1"/>
          <p:nvPr/>
        </p:nvSpPr>
        <p:spPr>
          <a:xfrm>
            <a:off x="11410798" y="6705295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自分の暗黙知が抜けていないか</a:t>
            </a:r>
            <a:r>
              <a:rPr lang="en-US" sz="1300">
                <a:solidFill>
                  <a:srgbClr val="8C95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（対話中に言い忘れた前提）</a:t>
            </a:r>
            <a:endParaRPr lang="en-US" sz="1300"/>
          </a:p>
        </p:txBody>
      </p:sp>
      <p:sp>
        <p:nvSpPr>
          <p:cNvPr id="41" name="Text 37"/>
          <p:cNvSpPr txBox="1"/>
          <p:nvPr/>
        </p:nvSpPr>
        <p:spPr>
          <a:xfrm>
            <a:off x="11048695" y="715243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7EE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1200"/>
          </a:p>
        </p:txBody>
      </p:sp>
      <p:sp>
        <p:nvSpPr>
          <p:cNvPr id="42" name="Text 38"/>
          <p:cNvSpPr txBox="1"/>
          <p:nvPr/>
        </p:nvSpPr>
        <p:spPr>
          <a:xfrm>
            <a:off x="11410798" y="7143293"/>
            <a:ext cx="4114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余計なもの（勝手に足された仕様）が入っていないか</a:t>
            </a:r>
            <a:endParaRPr lang="en-US" sz="1300"/>
          </a:p>
        </p:txBody>
      </p:sp>
      <p:sp>
        <p:nvSpPr>
          <p:cNvPr id="43" name="Text 39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44" name="Text 40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31</a:t>
            </a:r>
            <a:endParaRPr lang="en-US" sz="100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89CEBC60-0F1F-04AE-9CC3-820B2CAADC8D}"/>
              </a:ext>
            </a:extLst>
          </p:cNvPr>
          <p:cNvSpPr txBox="1"/>
          <p:nvPr/>
        </p:nvSpPr>
        <p:spPr>
          <a:xfrm>
            <a:off x="860917" y="3104845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/>
              <a:t>10 min</a:t>
            </a: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09F0DD9E-B76E-72CB-7079-A66A527AC868}"/>
              </a:ext>
            </a:extLst>
          </p:cNvPr>
          <p:cNvSpPr txBox="1"/>
          <p:nvPr/>
        </p:nvSpPr>
        <p:spPr>
          <a:xfrm>
            <a:off x="860917" y="2800702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/>
              <a:t>デモ → みんなにやってもらう</a:t>
            </a:r>
            <a:endParaRPr 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286707"/>
            <a:ext cx="16420795" cy="952805"/>
          </a:xfrm>
          <a:prstGeom prst="roundRect">
            <a:avLst>
              <a:gd name="adj" fmla="val 604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4286707"/>
            <a:ext cx="57607" cy="9528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381244"/>
            <a:ext cx="16420795" cy="952805"/>
          </a:xfrm>
          <a:prstGeom prst="roundRect">
            <a:avLst>
              <a:gd name="adj" fmla="val 604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381244"/>
            <a:ext cx="57607" cy="9528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476695"/>
            <a:ext cx="16420795" cy="952805"/>
          </a:xfrm>
          <a:prstGeom prst="roundRect">
            <a:avLst>
              <a:gd name="adj" fmla="val 604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476695"/>
            <a:ext cx="57607" cy="9528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7572146"/>
            <a:ext cx="16420795" cy="952805"/>
          </a:xfrm>
          <a:prstGeom prst="roundRect">
            <a:avLst>
              <a:gd name="adj" fmla="val 604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7572146"/>
            <a:ext cx="57607" cy="952805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914400" y="8667598"/>
            <a:ext cx="16420795" cy="952805"/>
          </a:xfrm>
          <a:prstGeom prst="roundRect">
            <a:avLst>
              <a:gd name="adj" fmla="val 6046"/>
            </a:avLst>
          </a:prstGeom>
          <a:solidFill>
            <a:srgbClr val="0969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4 / デモを実行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その場で動かして、確かめる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作った仕組みを実際に動かす。狙った作業が Copilot で完遂できるかを、その場で確かめる。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14400" y="3810305"/>
            <a:ext cx="16383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21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CHECKLIST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333195" y="464789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□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943100" y="4515307"/>
            <a:ext cx="51252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 / Agent / Instruction を使って作業させる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943100" y="4858207"/>
            <a:ext cx="4439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構成図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作って」など自然文で呼び出す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333195" y="5743346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□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943100" y="5609844"/>
            <a:ext cx="3963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 が意図通りの動作をするか確認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943100" y="5952744"/>
            <a:ext cx="3963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危険操作でちゃんとブロックされるか、監査ログが残るか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333195" y="6838798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□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943100" y="6705295"/>
            <a:ext cx="38679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Instruction が守られているか確認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943100" y="7048195"/>
            <a:ext cx="38679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main で直接作業していないか、命名規約が効いているか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333195" y="7934249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□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943100" y="7800746"/>
            <a:ext cx="319125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出力が期待値に近いか確認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943100" y="8143646"/>
            <a:ext cx="31912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「使える」レベルか、あと少しか、まだ遠いか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1333195" y="9015070"/>
            <a:ext cx="381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943100" y="8896198"/>
            <a:ext cx="31528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うまくいった点・崩れた点をメモ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943100" y="9239098"/>
            <a:ext cx="31528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次のステップ（改善issue）の入力になる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4507D2A8-4B1E-6128-9044-B50264BC6FF5}"/>
              </a:ext>
            </a:extLst>
          </p:cNvPr>
          <p:cNvSpPr txBox="1"/>
          <p:nvPr/>
        </p:nvSpPr>
        <p:spPr>
          <a:xfrm>
            <a:off x="860917" y="2988758"/>
            <a:ext cx="2565190" cy="362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/>
              <a:t>デモ → みんなにやってもらう</a:t>
            </a:r>
            <a:endParaRPr lang="en-US" sz="140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BA98A9F9-E867-745D-AE1E-65BE3E26F2D7}"/>
              </a:ext>
            </a:extLst>
          </p:cNvPr>
          <p:cNvSpPr txBox="1"/>
          <p:nvPr/>
        </p:nvSpPr>
        <p:spPr>
          <a:xfrm>
            <a:off x="856792" y="3388351"/>
            <a:ext cx="645867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/>
              <a:t>ユースケースでやってみる（一回作ってみました </a:t>
            </a:r>
            <a:r>
              <a:rPr lang="en-US" altLang="ja-JP" sz="1400"/>
              <a:t>&gt;&gt; </a:t>
            </a:r>
            <a:r>
              <a:rPr lang="ja-JP" altLang="en-US" sz="1400"/>
              <a:t>コミットしておく）</a:t>
            </a:r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190695"/>
            <a:ext cx="952530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4190695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477256"/>
            <a:ext cx="952530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477256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762902"/>
            <a:ext cx="952530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762902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8048549"/>
            <a:ext cx="9525305" cy="1143000"/>
          </a:xfrm>
          <a:prstGeom prst="roundRect">
            <a:avLst>
              <a:gd name="adj" fmla="val 504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8048549"/>
            <a:ext cx="57607" cy="1143000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実践 5 / 改善issueを起票</a:t>
            </a:r>
            <a:endParaRPr lang="en-US" sz="1100"/>
          </a:p>
        </p:txBody>
      </p:sp>
      <p:sp>
        <p:nvSpPr>
          <p:cNvPr id="14" name="Text 10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粗さを issue にして、次の一周へ</a:t>
            </a:r>
            <a:endParaRPr lang="en-US" sz="4800"/>
          </a:p>
        </p:txBody>
      </p:sp>
      <p:sp>
        <p:nvSpPr>
          <p:cNvPr id="15" name="Text 11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デモで見えた粗さを issue にする。これが次の一周の入力になり、精度が上がっていく。</a:t>
            </a:r>
            <a:endParaRPr lang="en-US" sz="1600"/>
          </a:p>
        </p:txBody>
      </p:sp>
      <p:sp>
        <p:nvSpPr>
          <p:cNvPr id="16" name="Text 12"/>
          <p:cNvSpPr txBox="1"/>
          <p:nvPr/>
        </p:nvSpPr>
        <p:spPr>
          <a:xfrm>
            <a:off x="914400" y="381030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68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STEPS</a:t>
            </a:r>
            <a:endParaRPr lang="en-US" sz="1000"/>
          </a:p>
        </p:txBody>
      </p:sp>
      <p:sp>
        <p:nvSpPr>
          <p:cNvPr id="17" name="Text 13"/>
          <p:cNvSpPr txBox="1"/>
          <p:nvPr/>
        </p:nvSpPr>
        <p:spPr>
          <a:xfrm>
            <a:off x="1333195" y="4401007"/>
            <a:ext cx="2770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/>
          </a:p>
        </p:txBody>
      </p:sp>
      <p:sp>
        <p:nvSpPr>
          <p:cNvPr id="18" name="Text 14"/>
          <p:cNvSpPr txBox="1"/>
          <p:nvPr/>
        </p:nvSpPr>
        <p:spPr>
          <a:xfrm>
            <a:off x="1798625" y="4410151"/>
            <a:ext cx="36009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崩れた点・あと一歩を具体的に書き出す</a:t>
            </a:r>
            <a:endParaRPr lang="en-US" sz="1500"/>
          </a:p>
        </p:txBody>
      </p:sp>
      <p:sp>
        <p:nvSpPr>
          <p:cNvPr id="19" name="Text 15"/>
          <p:cNvSpPr txBox="1"/>
          <p:nvPr/>
        </p:nvSpPr>
        <p:spPr>
          <a:xfrm>
            <a:off x="1798625" y="4753051"/>
            <a:ext cx="360090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「Skill の質問が浅い」「Hook の誤検知」など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1333195" y="5686654"/>
            <a:ext cx="2770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/>
          </a:p>
        </p:txBody>
      </p:sp>
      <p:sp>
        <p:nvSpPr>
          <p:cNvPr id="21" name="Text 17"/>
          <p:cNvSpPr txBox="1"/>
          <p:nvPr/>
        </p:nvSpPr>
        <p:spPr>
          <a:xfrm>
            <a:off x="1798625" y="5695798"/>
            <a:ext cx="3620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issue-create </a:t>
            </a: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スキルで起票</a:t>
            </a:r>
            <a:endParaRPr lang="en-US" sz="1500"/>
          </a:p>
        </p:txBody>
      </p:sp>
      <p:sp>
        <p:nvSpPr>
          <p:cNvPr id="22" name="Text 18"/>
          <p:cNvSpPr txBox="1"/>
          <p:nvPr/>
        </p:nvSpPr>
        <p:spPr>
          <a:xfrm>
            <a:off x="1798625" y="6038698"/>
            <a:ext cx="392186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先ほど作った Skill を、自分自身の改善にすぐ使う</a:t>
            </a:r>
            <a:endParaRPr lang="en-US" sz="1200"/>
          </a:p>
        </p:txBody>
      </p:sp>
      <p:sp>
        <p:nvSpPr>
          <p:cNvPr id="23" name="Text 19"/>
          <p:cNvSpPr txBox="1"/>
          <p:nvPr/>
        </p:nvSpPr>
        <p:spPr>
          <a:xfrm>
            <a:off x="1333195" y="6972300"/>
            <a:ext cx="2770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/>
          </a:p>
        </p:txBody>
      </p:sp>
      <p:sp>
        <p:nvSpPr>
          <p:cNvPr id="24" name="Text 20"/>
          <p:cNvSpPr txBox="1"/>
          <p:nvPr/>
        </p:nvSpPr>
        <p:spPr>
          <a:xfrm>
            <a:off x="1798625" y="6981444"/>
            <a:ext cx="376275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 が次の「課題整理」の入力になる</a:t>
            </a:r>
            <a:endParaRPr lang="en-US" sz="1500"/>
          </a:p>
        </p:txBody>
      </p:sp>
      <p:sp>
        <p:nvSpPr>
          <p:cNvPr id="25" name="Text 21"/>
          <p:cNvSpPr txBox="1"/>
          <p:nvPr/>
        </p:nvSpPr>
        <p:spPr>
          <a:xfrm>
            <a:off x="1798625" y="7324344"/>
            <a:ext cx="3525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粗さがそのまま次ラウンドの燃料に変わる</a:t>
            </a:r>
            <a:endParaRPr lang="en-US" sz="1200"/>
          </a:p>
        </p:txBody>
      </p:sp>
      <p:sp>
        <p:nvSpPr>
          <p:cNvPr id="26" name="Text 22"/>
          <p:cNvSpPr txBox="1"/>
          <p:nvPr/>
        </p:nvSpPr>
        <p:spPr>
          <a:xfrm>
            <a:off x="1333195" y="8257946"/>
            <a:ext cx="2770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/>
          </a:p>
        </p:txBody>
      </p:sp>
      <p:sp>
        <p:nvSpPr>
          <p:cNvPr id="27" name="Text 23"/>
          <p:cNvSpPr txBox="1"/>
          <p:nvPr/>
        </p:nvSpPr>
        <p:spPr>
          <a:xfrm>
            <a:off x="1798625" y="8268005"/>
            <a:ext cx="622066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課題整理 → 生成 → デモ → 改善issue の loop が回り始める</a:t>
            </a:r>
            <a:endParaRPr lang="en-US" sz="1500"/>
          </a:p>
        </p:txBody>
      </p:sp>
      <p:sp>
        <p:nvSpPr>
          <p:cNvPr id="28" name="Text 24"/>
          <p:cNvSpPr txBox="1"/>
          <p:nvPr/>
        </p:nvSpPr>
        <p:spPr>
          <a:xfrm>
            <a:off x="1798625" y="8610905"/>
            <a:ext cx="553486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ここで“型”が完成する</a:t>
            </a:r>
            <a:endParaRPr lang="en-US" sz="1200"/>
          </a:p>
        </p:txBody>
      </p:sp>
      <p:sp>
        <p:nvSpPr>
          <p:cNvPr id="42" name="Text 37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43" name="Text 38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31</a:t>
            </a:r>
            <a:endParaRPr lang="en-US" sz="100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3A25973C-C322-6692-839F-876A7B12A9B0}"/>
              </a:ext>
            </a:extLst>
          </p:cNvPr>
          <p:cNvSpPr/>
          <p:nvPr/>
        </p:nvSpPr>
        <p:spPr>
          <a:xfrm>
            <a:off x="10668305" y="3810305"/>
            <a:ext cx="6667805" cy="5381244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7" name="Image 1" descr="gen-dedup-aa8a5720d6fc6d5b3934dcfeda7760b3.png">
            <a:extLst>
              <a:ext uri="{FF2B5EF4-FFF2-40B4-BE49-F238E27FC236}">
                <a16:creationId xmlns:a16="http://schemas.microsoft.com/office/drawing/2014/main" id="{9EF0C642-6F53-DCCA-6BFB-5F9976BEE5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10668305" y="3810305"/>
            <a:ext cx="6667805" cy="533095"/>
          </a:xfrm>
          <a:prstGeom prst="rect">
            <a:avLst/>
          </a:prstGeom>
        </p:spPr>
      </p:pic>
      <p:sp>
        <p:nvSpPr>
          <p:cNvPr id="49" name="Shape 24">
            <a:extLst>
              <a:ext uri="{FF2B5EF4-FFF2-40B4-BE49-F238E27FC236}">
                <a16:creationId xmlns:a16="http://schemas.microsoft.com/office/drawing/2014/main" id="{F30CA766-D86F-39A3-48C7-FC24EF801880}"/>
              </a:ext>
            </a:extLst>
          </p:cNvPr>
          <p:cNvSpPr/>
          <p:nvPr/>
        </p:nvSpPr>
        <p:spPr>
          <a:xfrm>
            <a:off x="10953598" y="4005072"/>
            <a:ext cx="95098" cy="9509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C5BC44CD-1391-DA9C-4DAB-C96DCAFA9684}"/>
              </a:ext>
            </a:extLst>
          </p:cNvPr>
          <p:cNvSpPr txBox="1"/>
          <p:nvPr/>
        </p:nvSpPr>
        <p:spPr>
          <a:xfrm>
            <a:off x="11162995" y="3962095"/>
            <a:ext cx="3246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7F3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2CF0C8E1-F612-C052-482D-C7AE2B6A5639}"/>
              </a:ext>
            </a:extLst>
          </p:cNvPr>
          <p:cNvSpPr txBox="1"/>
          <p:nvPr/>
        </p:nvSpPr>
        <p:spPr>
          <a:xfrm>
            <a:off x="11597335" y="3962095"/>
            <a:ext cx="2478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996956BE-157D-8DC4-D6AA-80CE5FD9AC21}"/>
              </a:ext>
            </a:extLst>
          </p:cNvPr>
          <p:cNvSpPr txBox="1"/>
          <p:nvPr/>
        </p:nvSpPr>
        <p:spPr>
          <a:xfrm>
            <a:off x="11952122" y="3962095"/>
            <a:ext cx="11247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GitHub Issue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81DE63E-1C87-7562-8F8F-804DCCC863B9}"/>
              </a:ext>
            </a:extLst>
          </p:cNvPr>
          <p:cNvSpPr txBox="1"/>
          <p:nvPr/>
        </p:nvSpPr>
        <p:spPr>
          <a:xfrm>
            <a:off x="10953598" y="4629607"/>
            <a:ext cx="6096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[example]</a:t>
            </a:r>
            <a:r>
              <a:rPr kumimoji="0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構成図作成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 </a:t>
            </a:r>
            <a:r>
              <a:rPr kumimoji="0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のヒアリング粒度が不足している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2" descr="gen-dedup-f47eafc207722abb0df6f920d76f20df.png">
            <a:extLst>
              <a:ext uri="{FF2B5EF4-FFF2-40B4-BE49-F238E27FC236}">
                <a16:creationId xmlns:a16="http://schemas.microsoft.com/office/drawing/2014/main" id="{565D0143-773B-20CF-B9EF-ABD412789A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0953598" y="5134356"/>
            <a:ext cx="571500" cy="19202"/>
          </a:xfrm>
          <a:prstGeom prst="rect">
            <a:avLst/>
          </a:prstGeom>
        </p:spPr>
      </p:pic>
      <p:sp>
        <p:nvSpPr>
          <p:cNvPr id="61" name="Text 29">
            <a:extLst>
              <a:ext uri="{FF2B5EF4-FFF2-40B4-BE49-F238E27FC236}">
                <a16:creationId xmlns:a16="http://schemas.microsoft.com/office/drawing/2014/main" id="{C75832B8-8A6D-FFED-8CFD-E4980293E8BD}"/>
              </a:ext>
            </a:extLst>
          </p:cNvPr>
          <p:cNvSpPr txBox="1"/>
          <p:nvPr/>
        </p:nvSpPr>
        <p:spPr>
          <a:xfrm>
            <a:off x="10953598" y="5343754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現象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CD352C5B-7730-1BC2-D66F-C152909A1335}"/>
              </a:ext>
            </a:extLst>
          </p:cNvPr>
          <p:cNvSpPr txBox="1"/>
          <p:nvPr/>
        </p:nvSpPr>
        <p:spPr>
          <a:xfrm>
            <a:off x="10953598" y="5615330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ja-JP" altLang="ja-JP" sz="1100"/>
              <a:t>API連携や認証方式を確認せずに構成図が生成される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A871DB16-F7EE-8C7F-C9F1-F7E417C1C737}"/>
              </a:ext>
            </a:extLst>
          </p:cNvPr>
          <p:cNvSpPr txBox="1"/>
          <p:nvPr/>
        </p:nvSpPr>
        <p:spPr>
          <a:xfrm>
            <a:off x="10953598" y="6001207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期待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8280F818-424E-17FE-0C59-CA03034C98C7}"/>
              </a:ext>
            </a:extLst>
          </p:cNvPr>
          <p:cNvSpPr txBox="1"/>
          <p:nvPr/>
        </p:nvSpPr>
        <p:spPr>
          <a:xfrm>
            <a:off x="10953598" y="6271870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ja-JP" altLang="ja-JP" sz="1100"/>
              <a:t>システム間通信・認証・データフローを対話で引き出してから構成図を生成する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A6A66AEC-2239-0910-4AE8-DA5CE2689E6C}"/>
              </a:ext>
            </a:extLst>
          </p:cNvPr>
          <p:cNvSpPr txBox="1"/>
          <p:nvPr/>
        </p:nvSpPr>
        <p:spPr>
          <a:xfrm>
            <a:off x="10953598" y="6657746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対応案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A05FA993-6A8F-B9C1-5F5E-A6F487EFE2D3}"/>
              </a:ext>
            </a:extLst>
          </p:cNvPr>
          <p:cNvSpPr txBox="1"/>
          <p:nvPr/>
        </p:nvSpPr>
        <p:spPr>
          <a:xfrm>
            <a:off x="10953598" y="6929323"/>
            <a:ext cx="6096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ja-JP" altLang="ja-JP" sz="1100"/>
              <a:t>SKILL.mdのヒアリング項目に連携情報の確認を追加する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4874C613-367B-354E-0AF8-B47D941A2F89}"/>
              </a:ext>
            </a:extLst>
          </p:cNvPr>
          <p:cNvSpPr txBox="1"/>
          <p:nvPr/>
        </p:nvSpPr>
        <p:spPr>
          <a:xfrm>
            <a:off x="856792" y="3386024"/>
            <a:ext cx="645867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/>
              <a:t>ユースケースでやってみる（一回作ってみました </a:t>
            </a:r>
            <a:r>
              <a:rPr lang="en-US" altLang="ja-JP" sz="1400"/>
              <a:t>&gt;&gt; </a:t>
            </a:r>
            <a:r>
              <a:rPr lang="ja-JP" altLang="en-US" sz="1400"/>
              <a:t>コミットしておく）</a:t>
            </a:r>
            <a:endParaRPr lang="en-US" sz="140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705A98D-B86B-832D-4C99-7E3724C18DF9}"/>
              </a:ext>
            </a:extLst>
          </p:cNvPr>
          <p:cNvSpPr txBox="1"/>
          <p:nvPr/>
        </p:nvSpPr>
        <p:spPr>
          <a:xfrm>
            <a:off x="856792" y="3059332"/>
            <a:ext cx="472278" cy="419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/>
              <a:t>デモ → みんなにやってもらう</a:t>
            </a:r>
            <a:endParaRPr 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24598" y="3619195"/>
            <a:ext cx="3238805" cy="1143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11239805" y="5333695"/>
            <a:ext cx="3238805" cy="1143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7524598" y="7048195"/>
            <a:ext cx="3238805" cy="1143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3810305" y="5333695"/>
            <a:ext cx="3238805" cy="1143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7524598" y="4953305"/>
            <a:ext cx="3238805" cy="1904695"/>
          </a:xfrm>
          <a:prstGeom prst="roundRect">
            <a:avLst>
              <a:gd name="adj" fmla="val 50024"/>
            </a:avLst>
          </a:prstGeom>
          <a:solidFill>
            <a:srgbClr val="0969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10858500" y="4524451"/>
            <a:ext cx="228600" cy="28346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11058754" y="4524451"/>
            <a:ext cx="28346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7000646"/>
            <a:ext cx="228600" cy="28346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11058754" y="7000646"/>
            <a:ext cx="28346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7048195" y="7000646"/>
            <a:ext cx="228600" cy="28346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7248449" y="7000646"/>
            <a:ext cx="28346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7048195" y="4524451"/>
            <a:ext cx="228600" cy="28346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7248449" y="4524451"/>
            <a:ext cx="28346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914400" y="76169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まとめ / 01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14400" y="1238098"/>
            <a:ext cx="1638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課題整理→生成→デモ→改善issue の loop が、ゴール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914400" y="266730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繰り返すほど精度の高い AI 資産になる。1 周でも「自分の作業を AI 化する型」が手に入る。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524598" y="5429707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21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LOOP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524598" y="5724144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回し続ける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810805" y="38669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7810805" y="4095598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課題整理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7810805" y="4486046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対話して作業を分解する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1525098" y="55814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1525098" y="5810098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1525098" y="6200546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.github 配下に資産化する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7810805" y="72959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7810805" y="7524598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7810805" y="7915046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動かして確かめる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4095598" y="55814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37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4095598" y="5810098"/>
            <a:ext cx="2667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改善issue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095598" y="6200546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次の一周へつなげる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14400" y="8762695"/>
            <a:ext cx="5315407" cy="533095"/>
          </a:xfrm>
          <a:prstGeom prst="roundRect">
            <a:avLst>
              <a:gd name="adj" fmla="val 7204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1"/>
          <p:cNvSpPr/>
          <p:nvPr/>
        </p:nvSpPr>
        <p:spPr>
          <a:xfrm>
            <a:off x="914400" y="8762695"/>
            <a:ext cx="38405" cy="533095"/>
          </a:xfrm>
          <a:prstGeom prst="roundRect">
            <a:avLst>
              <a:gd name="adj" fmla="val 99999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 txBox="1"/>
          <p:nvPr/>
        </p:nvSpPr>
        <p:spPr>
          <a:xfrm>
            <a:off x="1143000" y="8915400"/>
            <a:ext cx="48966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周でも「自分の作業を AI 化する型」が手に入る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452006" y="8762695"/>
            <a:ext cx="5315407" cy="533095"/>
          </a:xfrm>
          <a:prstGeom prst="roundRect">
            <a:avLst>
              <a:gd name="adj" fmla="val 7204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6452006" y="8762695"/>
            <a:ext cx="38405" cy="533095"/>
          </a:xfrm>
          <a:prstGeom prst="roundRect">
            <a:avLst>
              <a:gd name="adj" fmla="val 99999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80606" y="8915400"/>
            <a:ext cx="50154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繰り返すほど Skill / Instruction / Agent / Hook が充実する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1988698" y="8762695"/>
            <a:ext cx="5315407" cy="533095"/>
          </a:xfrm>
          <a:prstGeom prst="roundRect">
            <a:avLst>
              <a:gd name="adj" fmla="val 7204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7"/>
          <p:cNvSpPr/>
          <p:nvPr/>
        </p:nvSpPr>
        <p:spPr>
          <a:xfrm>
            <a:off x="11988698" y="8762695"/>
            <a:ext cx="38405" cy="533095"/>
          </a:xfrm>
          <a:prstGeom prst="roundRect">
            <a:avLst>
              <a:gd name="adj" fmla="val 99999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8"/>
          <p:cNvSpPr txBox="1"/>
          <p:nvPr/>
        </p:nvSpPr>
        <p:spPr>
          <a:xfrm>
            <a:off x="12217298" y="8915400"/>
            <a:ext cx="48966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やがてこの loop を“設計”できるようになる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07357af7ea665c5ba5cbc0d0975a90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4572000"/>
            <a:ext cx="1143000" cy="57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6191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45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4953305"/>
            <a:ext cx="16383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0" b="1" i="0" u="none" strike="noStrike" kern="0" cap="none" spc="-7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利用者向け</a:t>
            </a:r>
            <a:endParaRPr kumimoji="0" lang="en-US" sz="7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8287207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考え方は同じ。置き場所が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から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に変わる。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810305"/>
            <a:ext cx="8191195" cy="5524805"/>
          </a:xfrm>
          <a:prstGeom prst="roundRect">
            <a:avLst>
              <a:gd name="adj" fmla="val 2069"/>
            </a:avLst>
          </a:prstGeom>
          <a:solidFill>
            <a:srgbClr val="242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905695" y="3810305"/>
            <a:ext cx="7429500" cy="5524805"/>
          </a:xfrm>
          <a:prstGeom prst="roundRect">
            <a:avLst>
              <a:gd name="adj" fmla="val 2069"/>
            </a:avLst>
          </a:prstGeom>
          <a:solidFill>
            <a:srgbClr val="0969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914400" y="761695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/ 01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1238098"/>
            <a:ext cx="1638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ではどう置き換えるか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本編は GitHub Copilot を前提にしたが、考え方は Claude Code でも同じ。違うのは主にディレクトリ構成とファイル命名。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295705" y="4114800"/>
            <a:ext cx="1609344" cy="267005"/>
          </a:xfrm>
          <a:prstGeom prst="roundRect">
            <a:avLst>
              <a:gd name="adj" fmla="val 50000"/>
            </a:avLst>
          </a:prstGeom>
          <a:solidFill>
            <a:srgbClr val="7EE2FF">
              <a:alpha val="15000"/>
            </a:srgbClr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1295705" y="4114800"/>
            <a:ext cx="16102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38100" rIns="139700" bIns="381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56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Copilot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295705" y="4610405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.github/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295705" y="4972507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copilot-instructions.md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295705" y="5333695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*.agent.md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95705" y="5695798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*/SKILL.md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295705" y="6057900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*.instructions.md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95705" y="6420002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en-US" altLang="ja-JP" sz="1400">
                <a:solidFill>
                  <a:srgbClr val="D0D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0D7DE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239098" y="6286500"/>
            <a:ext cx="571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287000" y="4114800"/>
            <a:ext cx="1304849" cy="247802"/>
          </a:xfrm>
          <a:prstGeom prst="roundRect">
            <a:avLst>
              <a:gd name="adj" fmla="val 498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10287000" y="4114800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38100" rIns="139700" bIns="381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56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0287000" y="4591202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.claude/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0287000" y="4953305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0287000" y="5315407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0287000" y="5676595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*/SKILL.md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0287000" y="6038698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*.md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0287000" y="6400800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/>
            <a:r>
              <a:rPr lang="en-US" altLang="ja-JP" sz="1400">
                <a:solidFill>
                  <a:srgbClr val="DDF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EE2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hooks/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DF4F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*.sh + settings.json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761695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25" normalizeH="0" baseline="0" noProof="0">
                <a:ln>
                  <a:noFill/>
                </a:ln>
                <a:solidFill>
                  <a:srgbClr val="0969D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/ 02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24292F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対応表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7606A"/>
                </a:solidFill>
                <a:effectLst/>
                <a:uLnTx/>
                <a:uFillTx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Copilot で作った AI 資産は、以下のように読み替える。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914400" y="3619195"/>
          <a:ext cx="16402508" cy="4886553"/>
        </p:xfrm>
        <a:graphic>
          <a:graphicData uri="http://schemas.openxmlformats.org/drawingml/2006/table">
            <a:tbl>
              <a:tblPr/>
              <a:tblGrid>
                <a:gridCol w="4264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7EE2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概念</a:t>
                      </a:r>
                      <a:endParaRPr lang="en-US" sz="120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7EE2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GitHub Copilot</a:t>
                      </a:r>
                      <a:endParaRPr lang="en-US" sz="120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7EE2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Claude Code</a:t>
                      </a:r>
                      <a:endParaRPr lang="en-US" sz="120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全体方針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copilot-instructions.md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.claude/CLAUDE.md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常時適用ルール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instructions/*.instructions.md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.claude/rules/*.md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役割特化エージェント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agents/*.agent.md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.claude/agents/*.md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再利用ワークフロー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skills/*/SKILL.md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.claude/skills/*/SKILL.md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自動チェック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hooks/*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.claude/hooks/*.sh + settings.json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2429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改善issue起票</a:t>
                      </a:r>
                      <a:endParaRPr lang="en-US" sz="150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ISSUE_TEMPLATE/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0550A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.claude/commands/ または skills/</a:t>
                      </a:r>
                      <a:endParaRPr lang="en-US" sz="135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914400" y="9715500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6737178" y="9715500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C959F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32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40dee588f115cfd0e2f600d0d9e887e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3905402"/>
            <a:ext cx="16420795" cy="1000354"/>
          </a:xfrm>
          <a:prstGeom prst="roundRect">
            <a:avLst>
              <a:gd name="adj" fmla="val 575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914400" y="3905402"/>
            <a:ext cx="57607" cy="1000354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914400" y="5048402"/>
            <a:ext cx="16420795" cy="1000354"/>
          </a:xfrm>
          <a:prstGeom prst="roundRect">
            <a:avLst>
              <a:gd name="adj" fmla="val 575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5048402"/>
            <a:ext cx="57607" cy="1000354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914400" y="6191402"/>
            <a:ext cx="16420795" cy="1000354"/>
          </a:xfrm>
          <a:prstGeom prst="roundRect">
            <a:avLst>
              <a:gd name="adj" fmla="val 575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914400" y="6191402"/>
            <a:ext cx="57607" cy="1000354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914400" y="7334402"/>
            <a:ext cx="16420795" cy="1000354"/>
          </a:xfrm>
          <a:prstGeom prst="roundRect">
            <a:avLst>
              <a:gd name="adj" fmla="val 575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14400" y="7334402"/>
            <a:ext cx="57607" cy="1000354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914400" y="8477402"/>
            <a:ext cx="16420795" cy="1000354"/>
          </a:xfrm>
          <a:prstGeom prst="roundRect">
            <a:avLst>
              <a:gd name="adj" fmla="val 575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477402"/>
            <a:ext cx="57607" cy="1000354"/>
          </a:xfrm>
          <a:prstGeom prst="roundRect">
            <a:avLst>
              <a:gd name="adj" fmla="val 100000"/>
            </a:avLst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914400" y="761695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225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/ 03</a:t>
            </a:r>
            <a:endParaRPr lang="en-US" sz="1100"/>
          </a:p>
        </p:txBody>
      </p:sp>
      <p:sp>
        <p:nvSpPr>
          <p:cNvPr id="14" name="Text 11"/>
          <p:cNvSpPr txBox="1"/>
          <p:nvPr/>
        </p:nvSpPr>
        <p:spPr>
          <a:xfrm>
            <a:off x="914400" y="1238098"/>
            <a:ext cx="163833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での実践フロー</a:t>
            </a:r>
            <a:endParaRPr lang="en-US" sz="4800"/>
          </a:p>
        </p:txBody>
      </p:sp>
      <p:sp>
        <p:nvSpPr>
          <p:cNvPr id="15" name="Text 12"/>
          <p:cNvSpPr txBox="1"/>
          <p:nvPr/>
        </p:nvSpPr>
        <p:spPr>
          <a:xfrm>
            <a:off x="914400" y="2476195"/>
            <a:ext cx="1638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実践の流れは GitHub Copilot と同じ。課題整理 → 生成 → デモ → 改善 の loop を </a:t>
            </a:r>
            <a:r>
              <a:rPr lang="en-US" sz="1400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.claude/ </a:t>
            </a:r>
            <a:r>
              <a:rPr lang="en-US" sz="16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配下で回す。</a:t>
            </a:r>
            <a:endParaRPr lang="en-US" sz="1600"/>
          </a:p>
        </p:txBody>
      </p:sp>
      <p:sp>
        <p:nvSpPr>
          <p:cNvPr id="16" name="Text 13"/>
          <p:cNvSpPr txBox="1"/>
          <p:nvPr/>
        </p:nvSpPr>
        <p:spPr>
          <a:xfrm>
            <a:off x="1333195" y="4229100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/>
          </a:p>
        </p:txBody>
      </p:sp>
      <p:sp>
        <p:nvSpPr>
          <p:cNvPr id="17" name="Text 14"/>
          <p:cNvSpPr txBox="1"/>
          <p:nvPr/>
        </p:nvSpPr>
        <p:spPr>
          <a:xfrm>
            <a:off x="2133295" y="4114800"/>
            <a:ext cx="341345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棚卸しで AI 化したい作業を選ぶ</a:t>
            </a:r>
            <a:endParaRPr lang="en-US" sz="1600"/>
          </a:p>
        </p:txBody>
      </p:sp>
      <p:sp>
        <p:nvSpPr>
          <p:cNvPr id="18" name="Text 15"/>
          <p:cNvSpPr txBox="1"/>
          <p:nvPr/>
        </p:nvSpPr>
        <p:spPr>
          <a:xfrm>
            <a:off x="2133295" y="4457700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「3回やった作業」を書き出し、1つ選定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1333195" y="5372100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/>
          </a:p>
        </p:txBody>
      </p:sp>
      <p:sp>
        <p:nvSpPr>
          <p:cNvPr id="20" name="Text 17"/>
          <p:cNvSpPr txBox="1"/>
          <p:nvPr/>
        </p:nvSpPr>
        <p:spPr>
          <a:xfrm>
            <a:off x="2133295" y="5257800"/>
            <a:ext cx="466069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に質問させながら課題整理する</a:t>
            </a:r>
            <a:endParaRPr lang="en-US" sz="1600"/>
          </a:p>
        </p:txBody>
      </p:sp>
      <p:sp>
        <p:nvSpPr>
          <p:cNvPr id="21" name="Text 18"/>
          <p:cNvSpPr txBox="1"/>
          <p:nvPr/>
        </p:nvSpPr>
        <p:spPr>
          <a:xfrm>
            <a:off x="2133295" y="5600700"/>
            <a:ext cx="42291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対話で手順・前提・禁止事項を引き出す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1333195" y="6515100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/>
          </a:p>
        </p:txBody>
      </p:sp>
      <p:sp>
        <p:nvSpPr>
          <p:cNvPr id="23" name="Text 20"/>
          <p:cNvSpPr txBox="1"/>
          <p:nvPr/>
        </p:nvSpPr>
        <p:spPr>
          <a:xfrm>
            <a:off x="2133295" y="6400800"/>
            <a:ext cx="6172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550AE"/>
                </a:solidFill>
                <a:highlight>
                  <a:srgbClr val="F6F8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 .claude/ </a:t>
            </a: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skills・rules・agents・hooks に分類して生成</a:t>
            </a:r>
            <a:endParaRPr lang="en-US" sz="1600"/>
          </a:p>
        </p:txBody>
      </p:sp>
      <p:sp>
        <p:nvSpPr>
          <p:cNvPr id="24" name="Text 21"/>
          <p:cNvSpPr txBox="1"/>
          <p:nvPr/>
        </p:nvSpPr>
        <p:spPr>
          <a:xfrm>
            <a:off x="2133295" y="6743700"/>
            <a:ext cx="54864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生成後すぐレビュー。任せきりにしない</a:t>
            </a:r>
            <a:endParaRPr lang="en-US" sz="1200"/>
          </a:p>
        </p:txBody>
      </p:sp>
      <p:sp>
        <p:nvSpPr>
          <p:cNvPr id="25" name="Text 22"/>
          <p:cNvSpPr txBox="1"/>
          <p:nvPr/>
        </p:nvSpPr>
        <p:spPr>
          <a:xfrm>
            <a:off x="1333195" y="7658100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/>
          </a:p>
        </p:txBody>
      </p:sp>
      <p:sp>
        <p:nvSpPr>
          <p:cNvPr id="26" name="Text 23"/>
          <p:cNvSpPr txBox="1"/>
          <p:nvPr/>
        </p:nvSpPr>
        <p:spPr>
          <a:xfrm>
            <a:off x="2133295" y="7543800"/>
            <a:ext cx="41815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デモを実行して、期待通りに動くか確認する</a:t>
            </a:r>
            <a:endParaRPr lang="en-US" sz="1600"/>
          </a:p>
        </p:txBody>
      </p:sp>
      <p:sp>
        <p:nvSpPr>
          <p:cNvPr id="27" name="Text 24"/>
          <p:cNvSpPr txBox="1"/>
          <p:nvPr/>
        </p:nvSpPr>
        <p:spPr>
          <a:xfrm>
            <a:off x="2133295" y="7886700"/>
            <a:ext cx="418155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 / Rule / Skill の効き方を実物で確かめる</a:t>
            </a:r>
            <a:endParaRPr lang="en-US" sz="1200"/>
          </a:p>
        </p:txBody>
      </p:sp>
      <p:sp>
        <p:nvSpPr>
          <p:cNvPr id="28" name="Text 25"/>
          <p:cNvSpPr txBox="1"/>
          <p:nvPr/>
        </p:nvSpPr>
        <p:spPr>
          <a:xfrm>
            <a:off x="1333195" y="8801100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969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/>
          </a:p>
        </p:txBody>
      </p:sp>
      <p:sp>
        <p:nvSpPr>
          <p:cNvPr id="29" name="Text 26"/>
          <p:cNvSpPr txBox="1"/>
          <p:nvPr/>
        </p:nvSpPr>
        <p:spPr>
          <a:xfrm>
            <a:off x="2133295" y="8686800"/>
            <a:ext cx="63532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429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崩れた点を改善 issue / command / skill にして次の loop へ</a:t>
            </a:r>
            <a:endParaRPr lang="en-US" sz="1600"/>
          </a:p>
        </p:txBody>
      </p:sp>
      <p:sp>
        <p:nvSpPr>
          <p:cNvPr id="30" name="Text 27"/>
          <p:cNvSpPr txBox="1"/>
          <p:nvPr/>
        </p:nvSpPr>
        <p:spPr>
          <a:xfrm>
            <a:off x="2133295" y="9029700"/>
            <a:ext cx="590519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760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Copilot で学んだ loop は Claude Code でもそのまま転用できる</a:t>
            </a:r>
            <a:endParaRPr lang="en-US" sz="1200"/>
          </a:p>
        </p:txBody>
      </p:sp>
      <p:sp>
        <p:nvSpPr>
          <p:cNvPr id="31" name="Text 28"/>
          <p:cNvSpPr txBox="1"/>
          <p:nvPr/>
        </p:nvSpPr>
        <p:spPr>
          <a:xfrm>
            <a:off x="914400" y="9810598"/>
            <a:ext cx="1762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ai-driven-work-handson</a:t>
            </a:r>
            <a:endParaRPr lang="en-US" sz="1000"/>
          </a:p>
        </p:txBody>
      </p:sp>
      <p:sp>
        <p:nvSpPr>
          <p:cNvPr id="32" name="Text 29"/>
          <p:cNvSpPr txBox="1"/>
          <p:nvPr/>
        </p:nvSpPr>
        <p:spPr>
          <a:xfrm>
            <a:off x="16737178" y="9810598"/>
            <a:ext cx="5623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C95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31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E09143CB7B5FE48895CC8306E114AA2" ma:contentTypeVersion="16" ma:contentTypeDescription="新しいドキュメントを作成します。" ma:contentTypeScope="" ma:versionID="e4141fdf00a90fb232c82e28b6aed05b">
  <xsd:schema xmlns:xsd="http://www.w3.org/2001/XMLSchema" xmlns:xs="http://www.w3.org/2001/XMLSchema" xmlns:p="http://schemas.microsoft.com/office/2006/metadata/properties" xmlns:ns2="5543e56f-58c0-47ca-b545-ad6779db36b6" xmlns:ns3="592822f7-4d92-43fc-8446-dfe86405484a" targetNamespace="http://schemas.microsoft.com/office/2006/metadata/properties" ma:root="true" ma:fieldsID="7ccf9863eff0e155d6b5d6b12ece762e" ns2:_="" ns3:_="">
    <xsd:import namespace="5543e56f-58c0-47ca-b545-ad6779db36b6"/>
    <xsd:import namespace="592822f7-4d92-43fc-8446-dfe8640548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43e56f-58c0-47ca-b545-ad6779db36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1f9bcf0b-6190-4aa1-9ca0-781008dfb2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2822f7-4d92-43fc-8446-dfe86405484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c9f8035-3dab-451a-9be0-3ba4cd2d91e1}" ma:internalName="TaxCatchAll" ma:showField="CatchAllData" ma:web="592822f7-4d92-43fc-8446-dfe8640548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43e56f-58c0-47ca-b545-ad6779db36b6">
      <Terms xmlns="http://schemas.microsoft.com/office/infopath/2007/PartnerControls"/>
    </lcf76f155ced4ddcb4097134ff3c332f>
    <TaxCatchAll xmlns="592822f7-4d92-43fc-8446-dfe86405484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0CA894-7BB7-4508-A7C5-6C08D740099C}">
  <ds:schemaRefs>
    <ds:schemaRef ds:uri="5543e56f-58c0-47ca-b545-ad6779db36b6"/>
    <ds:schemaRef ds:uri="592822f7-4d92-43fc-8446-dfe8640548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1D8630B-AA2D-4B27-A993-A4E34C57902E}">
  <ds:schemaRefs>
    <ds:schemaRef ds:uri="5543e56f-58c0-47ca-b545-ad6779db36b6"/>
    <ds:schemaRef ds:uri="592822f7-4d92-43fc-8446-dfe8640548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32E0A5-1A64-48C8-B37D-4699B2ADD0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30</Slides>
  <Notes>29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revision>1</cp:revision>
  <dcterms:created xsi:type="dcterms:W3CDTF">2026-07-08T05:06:22Z</dcterms:created>
  <dcterms:modified xsi:type="dcterms:W3CDTF">2026-07-31T06:08:52Z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0x0101003E09143CB7B5FE48895CC8306E114AA2</vt:lpwstr>
  </property>
  <property fmtid="{D5CDD505-2E9C-101B-9397-08002B2CF9AE}" pid="3" name="MediaServiceImageTags">
    <vt:lpwstr/>
  </property>
</Properties>
</file>