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62895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1">
                <a:solidFill>
                  <a:srgbClr val="2563EB"/>
                </a:solidFill>
                <a:latin typeface="Yu Gothic"/>
              </a:rPr>
              <a:t>AI駆動で、業務をやる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A1A2E"/>
                </a:solidFill>
                <a:latin typeface="Yu Gothic"/>
              </a:rPr>
              <a:t>目指すのはAI駆動“開発”にとどまらない。あらゆる業務をAIに委譲する「AI駆動チーム」への一歩を、手を動かして掴む。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663440"/>
            <a:ext cx="94484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6B7280"/>
                </a:solidFill>
                <a:latin typeface="Yu Gothic"/>
              </a:rPr>
              <a:t>テーマ: AI駆動開発ハンズオン＆講座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6B7280"/>
                </a:solidFill>
                <a:latin typeface="Yu Gothic"/>
              </a:rPr>
              <a:t>対象: ClaudeCode / GitHub Copilot 利用者（Microsoft Copilot 利用者は座学パートまで）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6B7280"/>
                </a:solidFill>
                <a:latin typeface="Yu Gothic"/>
              </a:rPr>
              <a:t>ゴール: 「課題整理 → AI生成 → デモ → 改善issue」のloopを一周回す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Yu Gothic"/>
              </a:rPr>
              <a:t>2026-06-23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200" b="1">
                <a:solidFill>
                  <a:srgbClr val="2563EB"/>
                </a:solidFill>
                <a:latin typeface="Yu Gothic"/>
              </a:rPr>
              <a:t>本日の目的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317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280160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2E"/>
                </a:solidFill>
                <a:latin typeface="Yu Gothic"/>
              </a:rPr>
              <a:t>AIで業務をする。開発に閉じず、繰り返し作業はAIへ。自分はAIを含む作業フローの“一部”になる。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11094415" cy="429768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9997135" cy="4297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Yu Gothic"/>
              </a:rPr>
              <a:t>自分は、AIを含む作業フローの“一部”である。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200" b="1">
                <a:solidFill>
                  <a:srgbClr val="2563EB"/>
                </a:solidFill>
                <a:latin typeface="Yu Gothic"/>
              </a:rPr>
              <a:t>対象者と3つのレーン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317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280160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2E"/>
                </a:solidFill>
                <a:latin typeface="Yu Gothic"/>
              </a:rPr>
              <a:t>使えるAIツールで到達点が変わる。座学は全員共通、実践はコーディングエージェント保有者が手を動かす。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5364327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499856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6B7280"/>
                </a:solidFill>
                <a:latin typeface="Yu Gothic"/>
              </a:rPr>
              <a:t>座学編（全員共通）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26080"/>
            <a:ext cx="4907127" cy="3383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Yu Gothic"/>
              </a:rPr>
              <a:t>•  AI駆動開発の方向性と思想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Yu Gothic"/>
              </a:rPr>
              <a:t>•  効率化の仕組み: Agent/Skill/Rule/Hook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Yu Gothic"/>
              </a:rPr>
              <a:t>•  コーディングエージェント最強論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2148840"/>
            <a:ext cx="5364327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1607" y="2286000"/>
            <a:ext cx="499856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2563EB"/>
                </a:solidFill>
                <a:latin typeface="Yu Gothic"/>
              </a:rPr>
              <a:t>実践編（Claude Code / Copilot）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7327" y="2926080"/>
            <a:ext cx="4907127" cy="3383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Yu Gothic"/>
              </a:rPr>
              <a:t>•  課題整理 → AIで一括生成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Yu Gothic"/>
              </a:rPr>
              <a:t>•  デモ実行 → 改善issue起票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Yu Gothic"/>
              </a:rPr>
              <a:t>•  loopを一周回す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200" b="1">
                <a:solidFill>
                  <a:srgbClr val="2563EB"/>
                </a:solidFill>
                <a:latin typeface="Yu Gothic"/>
              </a:rPr>
              <a:t>本日のアジェンダ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317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280160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2E"/>
                </a:solidFill>
                <a:latin typeface="Yu Gothic"/>
              </a:rPr>
              <a:t>座学で“なぜ・何を”を揃え、実践で“どうやって”を一周する。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11094415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2400" b="0">
                <a:solidFill>
                  <a:srgbClr val="1A1A2E"/>
                </a:solidFill>
                <a:latin typeface="Yu Gothic"/>
              </a:rPr>
              <a:t>•  座学1-2: AI駆動開発のこれからと、開発スタイルの変遷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2400" b="0">
                <a:solidFill>
                  <a:srgbClr val="1A1A2E"/>
                </a:solidFill>
                <a:latin typeface="Yu Gothic"/>
              </a:rPr>
              <a:t>•  座学3: 「3回やったらAI化」— 繰り返し作業の棚卸し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2400" b="0">
                <a:solidFill>
                  <a:srgbClr val="1A1A2E"/>
                </a:solidFill>
                <a:latin typeface="Yu Gothic"/>
              </a:rPr>
              <a:t>•  座学4-6: 仕組み（ディレクトリ構成）・コーディングエージェント最強論・リポジトリ構成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2400" b="0">
                <a:solidFill>
                  <a:srgbClr val="1A1A2E"/>
                </a:solidFill>
                <a:latin typeface="Yu Gothic"/>
              </a:rPr>
              <a:t>•  実践1-6: 棚卸し → リポジトリ用意 → 課題整理エージェント → AI生成 → デモ → 改善issue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200" b="1">
                <a:solidFill>
                  <a:srgbClr val="2563EB"/>
                </a:solidFill>
                <a:latin typeface="Yu Gothic"/>
              </a:rPr>
              <a:t>AI駆動開発のこれから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317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280160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2E"/>
                </a:solidFill>
                <a:latin typeface="Yu Gothic"/>
              </a:rPr>
              <a:t>「AI導入の検証」段階は終わり、「AIに仕事を任せる」段階へ。対象は開発から全業務に広がる。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11094415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2400" b="0">
                <a:solidFill>
                  <a:srgbClr val="1A1A2E"/>
                </a:solidFill>
                <a:latin typeface="Yu Gothic"/>
              </a:rPr>
              <a:t>•  AIに手伝ってもらい人がタスクを完遂する → AIが“タスクを完遂”する時代へ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2400" b="0">
                <a:solidFill>
                  <a:srgbClr val="1A1A2E"/>
                </a:solidFill>
                <a:latin typeface="Yu Gothic"/>
              </a:rPr>
              <a:t>•  適用範囲がすべての業務（調査・資料作成・運用・定型業務）へ拡大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2400" b="0">
                <a:solidFill>
                  <a:srgbClr val="1A1A2E"/>
                </a:solidFill>
                <a:latin typeface="Yu Gothic"/>
              </a:rPr>
              <a:t>•  人の役割は「実装者」から「AIに任せる設計者・レビュアー」へシフト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2400" b="0">
                <a:solidFill>
                  <a:srgbClr val="1A1A2E"/>
                </a:solidFill>
                <a:latin typeface="Yu Gothic"/>
              </a:rPr>
              <a:t>•  勝ち筋は“業務の仕組み化”: 業務イベントの洗い出し、ひとつずつ仕組化する。一度作れば何度でも効く資産を積む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200" b="1">
                <a:solidFill>
                  <a:srgbClr val="2563EB"/>
                </a:solidFill>
                <a:latin typeface="Yu Gothic"/>
              </a:rPr>
              <a:t>AI利用の変遷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317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280160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2E"/>
                </a:solidFill>
                <a:latin typeface="Yu Gothic"/>
              </a:rPr>
              <a:t>手書き → 補完 → エージェント駆動 → loop駆動。人の関与は“1行ずつ書く”から“流れを設計する”へ移る。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200400"/>
            <a:ext cx="2362123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329184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217924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Yu Gothic"/>
              </a:rPr>
              <a:t>手書き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251960"/>
            <a:ext cx="2087803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  <a:latin typeface="Yu Gothic"/>
              </a:rPr>
              <a:t>人が全部書く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956483" y="4114800"/>
            <a:ext cx="457200" cy="36576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59403" y="3200400"/>
            <a:ext cx="2362123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69131" y="329184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0843" y="3611880"/>
            <a:ext cx="217924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Yu Gothic"/>
              </a:rPr>
              <a:t>補完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6563" y="4251960"/>
            <a:ext cx="2087803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  <a:latin typeface="Yu Gothic"/>
              </a:rPr>
              <a:t>AIが部分提案・人が主役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867246" y="4114800"/>
            <a:ext cx="457200" cy="36576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70166" y="3200400"/>
            <a:ext cx="2362123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79894" y="329184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1606" y="3611880"/>
            <a:ext cx="217924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Yu Gothic"/>
              </a:rPr>
              <a:t>エージェント駆動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326" y="4251960"/>
            <a:ext cx="2087803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  <a:latin typeface="Yu Gothic"/>
              </a:rPr>
              <a:t>AIがタスクを実行・人はレビュー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78009" y="4114800"/>
            <a:ext cx="457200" cy="36576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280929" y="3200400"/>
            <a:ext cx="2362123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390657" y="329184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369" y="3611880"/>
            <a:ext cx="217924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Yu Gothic"/>
              </a:rPr>
              <a:t>loop駆動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089" y="4251960"/>
            <a:ext cx="2087803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  <a:latin typeface="Yu Gothic"/>
              </a:rPr>
              <a:t>AIが輪を回す・人は輪を設計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200" b="1">
                <a:solidFill>
                  <a:srgbClr val="2563EB"/>
                </a:solidFill>
                <a:latin typeface="Yu Gothic"/>
              </a:rPr>
              <a:t>3回やったら、AI化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317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280160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2E"/>
                </a:solidFill>
                <a:latin typeface="Yu Gothic"/>
              </a:rPr>
              <a:t>同じ作業を3回以上やったら、それはAIに渡す合図。手作業の棚卸しから始まる。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11094415" cy="429768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9997135" cy="4297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Yu Gothic"/>
              </a:rPr>
              <a:t>同じ作業を3回やったら、AI化しよう。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200" b="1">
                <a:solidFill>
                  <a:srgbClr val="2563EB"/>
                </a:solidFill>
                <a:latin typeface="Yu Gothic"/>
              </a:rPr>
              <a:t>自分は、作業フローの一部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317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280160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2E"/>
                </a:solidFill>
                <a:latin typeface="Yu Gothic"/>
              </a:rPr>
              <a:t>ほぼすべての作業はAIで自動化できる。ただしスキル・ルールの充実があって初めて成立する。</a:t>
            </a:r>
          </a:p>
        </p:txBody>
      </p:sp>
      <p:sp>
        <p:nvSpPr>
          <p:cNvPr id="6" name="Isosceles Triangle 5"/>
          <p:cNvSpPr/>
          <p:nvPr/>
        </p:nvSpPr>
        <p:spPr>
          <a:xfrm>
            <a:off x="4246778" y="2148840"/>
            <a:ext cx="3698138" cy="1359408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頂点: 人はフロー設計とレビューに専念</a:t>
            </a:r>
          </a:p>
        </p:txBody>
      </p:sp>
      <p:sp>
        <p:nvSpPr>
          <p:cNvPr id="7" name="Trapezoid 6"/>
          <p:cNvSpPr/>
          <p:nvPr/>
        </p:nvSpPr>
        <p:spPr>
          <a:xfrm>
            <a:off x="2397709" y="3617976"/>
            <a:ext cx="7396276" cy="1359408"/>
          </a:xfrm>
          <a:prstGeom prst="trapezoid">
            <a:avLst/>
          </a:prstGeom>
          <a:solidFill>
            <a:srgbClr val="7E5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中: エージェントがタスクを自律実行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087112"/>
            <a:ext cx="11094415" cy="1359408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土台: ルール/スキル/フックの蓄積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200" b="1">
                <a:solidFill>
                  <a:srgbClr val="2563EB"/>
                </a:solidFill>
                <a:latin typeface="Yu Gothic"/>
              </a:rPr>
              <a:t>効率化の仕組み = ディレクトリ構成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317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280160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2E"/>
                </a:solidFill>
                <a:latin typeface="Yu Gothic"/>
              </a:rPr>
              <a:t>AIを効率的に使う鍵は、リポジトリ直下に置く“4点セット”。Agent / Skill / Rule / Hook。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75607" y="2148840"/>
            <a:ext cx="3840480" cy="6858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.claude/（AIの設定一式）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611880"/>
            <a:ext cx="2036003" cy="2834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2E"/>
                </a:solidFill>
                <a:latin typeface="Yu Gothic"/>
              </a:rPr>
              <a:t>agents/</a:t>
            </a:r>
          </a:p>
          <a:p>
            <a:pPr algn="ctr"/>
            <a:r>
              <a:rPr sz="1200">
                <a:solidFill>
                  <a:srgbClr val="6B7280"/>
                </a:solidFill>
                <a:latin typeface="Yu Gothic"/>
              </a:rPr>
              <a:t>・役割特化エージェント（designer/executor/reviewer）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566641" y="3218688"/>
            <a:ext cx="0" cy="393192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13243" y="3611880"/>
            <a:ext cx="2036003" cy="2834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2E"/>
                </a:solidFill>
                <a:latin typeface="Yu Gothic"/>
              </a:rPr>
              <a:t>skills/</a:t>
            </a:r>
          </a:p>
          <a:p>
            <a:pPr algn="ctr"/>
            <a:r>
              <a:rPr sz="1200">
                <a:solidFill>
                  <a:srgbClr val="6B7280"/>
                </a:solidFill>
                <a:latin typeface="Yu Gothic"/>
              </a:rPr>
              <a:t>・再利用ワークフロー（SKILL.md）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831244" y="3218688"/>
            <a:ext cx="0" cy="393192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77846" y="3611880"/>
            <a:ext cx="2036003" cy="2834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2E"/>
                </a:solidFill>
                <a:latin typeface="Yu Gothic"/>
              </a:rPr>
              <a:t>rules/</a:t>
            </a:r>
          </a:p>
          <a:p>
            <a:pPr algn="ctr"/>
            <a:r>
              <a:rPr sz="1200">
                <a:solidFill>
                  <a:srgbClr val="6B7280"/>
                </a:solidFill>
                <a:latin typeface="Yu Gothic"/>
              </a:rPr>
              <a:t>・常時適用ルール（git.md / security.md）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5847" y="3218688"/>
            <a:ext cx="0" cy="393192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42449" y="3611880"/>
            <a:ext cx="2036003" cy="2834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2E"/>
                </a:solidFill>
                <a:latin typeface="Yu Gothic"/>
              </a:rPr>
              <a:t>hooks/ + settings.json</a:t>
            </a:r>
          </a:p>
          <a:p>
            <a:pPr algn="ctr"/>
            <a:r>
              <a:rPr sz="1200">
                <a:solidFill>
                  <a:srgbClr val="6B7280"/>
                </a:solidFill>
                <a:latin typeface="Yu Gothic"/>
              </a:rPr>
              <a:t>・自動ブロック・自動整形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360450" y="3218688"/>
            <a:ext cx="0" cy="393192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607052" y="3611880"/>
            <a:ext cx="2036003" cy="2834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2E"/>
                </a:solidFill>
                <a:latin typeface="Yu Gothic"/>
              </a:rPr>
              <a:t>commands/</a:t>
            </a:r>
          </a:p>
          <a:p>
            <a:pPr algn="ctr"/>
            <a:r>
              <a:rPr sz="1200">
                <a:solidFill>
                  <a:srgbClr val="6B7280"/>
                </a:solidFill>
                <a:latin typeface="Yu Gothic"/>
              </a:rPr>
              <a:t>・スラッシュコマンド（/learn・/evolve）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625053" y="3218688"/>
            <a:ext cx="0" cy="393192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95847" y="2834640"/>
            <a:ext cx="0" cy="384048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566641" y="3218688"/>
            <a:ext cx="9058412" cy="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200" b="1">
                <a:solidFill>
                  <a:srgbClr val="2563EB"/>
                </a:solidFill>
                <a:latin typeface="Yu Gothic"/>
              </a:rPr>
              <a:t>4点セットの役割と実例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317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280160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2E"/>
                </a:solidFill>
                <a:latin typeface="Yu Gothic"/>
              </a:rPr>
              <a:t>それぞれが「いつ効くか」を実物で押さえる。組み合わせでAIの精度と安全性が決まる。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5364327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499856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6B7280"/>
                </a:solidFill>
                <a:latin typeface="Yu Gothic"/>
              </a:rPr>
              <a:t>守り（Rule / Hook）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26080"/>
            <a:ext cx="4907127" cy="3383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Yu Gothic"/>
              </a:rPr>
              <a:t>•  Rule: main保護・命名規約・セキュリティ方針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Yu Gothic"/>
              </a:rPr>
              <a:t>•  Hook: terraform destroy/force-push をブロック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Yu Gothic"/>
              </a:rPr>
              <a:t>•  Hook: .env書き込み・秘密情報を検出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2148840"/>
            <a:ext cx="5364327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1607" y="2286000"/>
            <a:ext cx="499856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2563EB"/>
                </a:solidFill>
                <a:latin typeface="Yu Gothic"/>
              </a:rPr>
              <a:t>攻め（Agent / Skill / Command）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7327" y="2926080"/>
            <a:ext cx="4907127" cy="3383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Yu Gothic"/>
              </a:rPr>
              <a:t>•  Agent: 設計/実行/レビューを分業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Yu Gothic"/>
              </a:rPr>
              <a:t>•  Skill: issue作成・dbtテスト等の定型手順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Yu Gothic"/>
              </a:rPr>
              <a:t>•  Command: /learn → /evolve で資産を育てる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200" b="1">
                <a:solidFill>
                  <a:srgbClr val="2563EB"/>
                </a:solidFill>
                <a:latin typeface="Yu Gothic"/>
              </a:rPr>
              <a:t>何に向くサービスか？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317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280160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2E"/>
                </a:solidFill>
                <a:latin typeface="Yu Gothic"/>
              </a:rPr>
              <a:t>結論、ほとんどの業務はコーディングエージェントで実現できる。4の考え方はツールを問わず共通。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11094415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2000" b="0">
                <a:solidFill>
                  <a:srgbClr val="1A1A2E"/>
                </a:solidFill>
                <a:latin typeface="Yu Gothic"/>
              </a:rPr>
              <a:t>•  資料作成・調査・データ処理・運用 — 多くは“ファイルとコマンド”に落ちる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2000" b="0">
                <a:solidFill>
                  <a:srgbClr val="1A1A2E"/>
                </a:solidFill>
                <a:latin typeface="Yu Gothic"/>
              </a:rPr>
              <a:t>•  ファイルとコマンドを扱えるコーディングエージェントは、適用範囲が最も広い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2000" b="0">
                <a:solidFill>
                  <a:srgbClr val="1A1A2E"/>
                </a:solidFill>
                <a:latin typeface="Yu Gothic"/>
              </a:rPr>
              <a:t>•  Agent/Skill/Rule/Hook の考え方は Claude Code でも Copilot でも共通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2000" b="0">
                <a:solidFill>
                  <a:srgbClr val="1A1A2E"/>
                </a:solidFill>
                <a:latin typeface="Yu Gothic"/>
              </a:rPr>
              <a:t>•  → まずコーディングエージェントの仕組みや発展の理解を押さえるべき。他のツールも追従して機能が追加されていく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2000" b="0">
                <a:solidFill>
                  <a:srgbClr val="1A1A2E"/>
                </a:solidFill>
                <a:latin typeface="Yu Gothic"/>
              </a:rPr>
              <a:t>•  エンジニアは、コードを1行ずつ書く個人ではなく『エージェントのテックリード』として考えるべきだ。Sridhar Ramaswamy（Snowflake CEO）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200" b="1">
                <a:solidFill>
                  <a:srgbClr val="2563EB"/>
                </a:solidFill>
                <a:latin typeface="Yu Gothic"/>
              </a:rPr>
              <a:t>リポジトリ構成: .claude と .github のミラー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317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280160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2E"/>
                </a:solidFill>
                <a:latin typeface="Yu Gothic"/>
              </a:rPr>
              <a:t>同じ思想を、Claude Code は .claude/、GitHub Copilot は .github/ で表現する。片方を学べば両方に効く。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5364327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499856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6B7280"/>
                </a:solidFill>
                <a:latin typeface="Yu Gothic"/>
              </a:rPr>
              <a:t>.claude/（Claude Code）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26080"/>
            <a:ext cx="4907127" cy="3383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Yu Gothic"/>
              </a:rPr>
              <a:t>•  agents/ — 役割特化エージェント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Yu Gothic"/>
              </a:rPr>
              <a:t>•  skills/ — SKILL.md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Yu Gothic"/>
              </a:rPr>
              <a:t>•  rules/ — 常時適用ルール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Yu Gothic"/>
              </a:rPr>
              <a:t>•  hooks/ + settings.json — 自動チェック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Yu Gothic"/>
              </a:rPr>
              <a:t>•  commands/ — /learn・/evolve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2148840"/>
            <a:ext cx="5364327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1607" y="2286000"/>
            <a:ext cx="499856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2563EB"/>
                </a:solidFill>
                <a:latin typeface="Yu Gothic"/>
              </a:rPr>
              <a:t>.github/（GitHub Copilot）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7327" y="2926080"/>
            <a:ext cx="4907127" cy="3383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Yu Gothic"/>
              </a:rPr>
              <a:t>•  agents/ — *.agent.md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Yu Gothic"/>
              </a:rPr>
              <a:t>•  skills/ — 同名スキルをミラー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Yu Gothic"/>
              </a:rPr>
              <a:t>•  instructions/ — *.instructions.md（≒rules）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Yu Gothic"/>
              </a:rPr>
              <a:t>•  copilot-instructions.md — 全体方針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Yu Gothic"/>
              </a:rPr>
              <a:t>•  ISSUE_TEMPLATE/ — issue雛形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200" b="1">
                <a:solidFill>
                  <a:srgbClr val="2563EB"/>
                </a:solidFill>
                <a:latin typeface="Yu Gothic"/>
              </a:rPr>
              <a:t>ここまでが全員共通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317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280160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2E"/>
                </a:solidFill>
                <a:latin typeface="Yu Gothic"/>
              </a:rPr>
              <a:t>座学のゴールは「仕組みで効率化する」思想の共有。ここからは手を動かすレーンに分かれる。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11094415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2400" b="0">
                <a:solidFill>
                  <a:srgbClr val="1A1A2E"/>
                </a:solidFill>
                <a:latin typeface="Yu Gothic"/>
              </a:rPr>
              <a:t>•  押さえたこと: 3回やったらAI化／4点セット／コーディングエージェント最強／ミラー構成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2400" b="0">
                <a:solidFill>
                  <a:srgbClr val="1A1A2E"/>
                </a:solidFill>
                <a:latin typeface="Yu Gothic"/>
              </a:rPr>
              <a:t>•  Microsoft Copilot 勢: ここまでの思想を、まず手元の業務の棚卸しに活かす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2400" b="0">
                <a:solidFill>
                  <a:srgbClr val="1A1A2E"/>
                </a:solidFill>
                <a:latin typeface="Yu Gothic"/>
              </a:rPr>
              <a:t>•  Claude Code / Copilot 勢: ここから実践編 — loopを一周回す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200" b="1">
                <a:solidFill>
                  <a:srgbClr val="2563EB"/>
                </a:solidFill>
                <a:latin typeface="Yu Gothic"/>
              </a:rPr>
              <a:t>実践編の進め方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317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280160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2E"/>
                </a:solidFill>
                <a:latin typeface="Yu Gothic"/>
              </a:rPr>
              <a:t>3〜6（課題整理→生成→デモ→改善issue）を一周できたらゴール。レーンごとに使うツールが違うだけ。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200400"/>
            <a:ext cx="2362123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329184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217924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Yu Gothic"/>
              </a:rPr>
              <a:t>課題整理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251960"/>
            <a:ext cx="2087803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  <a:latin typeface="Yu Gothic"/>
              </a:rPr>
              <a:t>対話でまとめる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956483" y="4114800"/>
            <a:ext cx="457200" cy="36576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59403" y="3200400"/>
            <a:ext cx="2362123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69131" y="329184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0843" y="3611880"/>
            <a:ext cx="217924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Yu Gothic"/>
              </a:rPr>
              <a:t>AI生成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6563" y="4251960"/>
            <a:ext cx="2087803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  <a:latin typeface="Yu Gothic"/>
              </a:rPr>
              <a:t>skill/rule/agent/hook を作る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867246" y="4114800"/>
            <a:ext cx="457200" cy="36576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70166" y="3200400"/>
            <a:ext cx="2362123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79894" y="329184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1606" y="3611880"/>
            <a:ext cx="217924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Yu Gothic"/>
              </a:rPr>
              <a:t>デモ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326" y="4251960"/>
            <a:ext cx="2087803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  <a:latin typeface="Yu Gothic"/>
              </a:rPr>
              <a:t>実際に動かす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78009" y="4114800"/>
            <a:ext cx="457200" cy="36576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280929" y="3200400"/>
            <a:ext cx="2362123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390657" y="329184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369" y="3611880"/>
            <a:ext cx="217924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Yu Gothic"/>
              </a:rPr>
              <a:t>改善issue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089" y="4251960"/>
            <a:ext cx="2087803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  <a:latin typeface="Yu Gothic"/>
              </a:rPr>
              <a:t>次の一周へ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200" b="1">
                <a:solidFill>
                  <a:srgbClr val="2563EB"/>
                </a:solidFill>
                <a:latin typeface="Yu Gothic"/>
              </a:rPr>
              <a:t>複数回やっている作業・課題を書き出す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317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280160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2E"/>
                </a:solidFill>
                <a:latin typeface="Yu Gothic"/>
              </a:rPr>
              <a:t>loopの燃料は“自分の繰り返し作業”。まず手で書き出して、AI化候補を見つける。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11094415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2000" b="0">
                <a:solidFill>
                  <a:srgbClr val="1A1A2E"/>
                </a:solidFill>
                <a:latin typeface="Yu Gothic"/>
              </a:rPr>
              <a:t>•  直近で3回以上やった作業をリストアップ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2000" b="0">
                <a:solidFill>
                  <a:srgbClr val="1A1A2E"/>
                </a:solidFill>
                <a:latin typeface="Yu Gothic"/>
              </a:rPr>
              <a:t>•  各作業の「手順・入力・出力・つまずき」を一言で添える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2000" b="0">
                <a:solidFill>
                  <a:srgbClr val="1A1A2E"/>
                </a:solidFill>
                <a:latin typeface="Yu Gothic"/>
              </a:rPr>
              <a:t>•  “面倒・毎回ググる・コピペ”が多いものほど良い候補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2000" b="0">
                <a:solidFill>
                  <a:srgbClr val="1A1A2E"/>
                </a:solidFill>
                <a:latin typeface="Yu Gothic"/>
              </a:rPr>
              <a:t>•  1つ選ぶ — 本日はこれをAI化する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2000" b="0">
                <a:solidFill>
                  <a:srgbClr val="1A1A2E"/>
                </a:solidFill>
                <a:latin typeface="Yu Gothic"/>
              </a:rPr>
              <a:t>•  例：日々会の進捗報告, 疑問点の整理, 定例資料の作成,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200" b="1">
                <a:solidFill>
                  <a:srgbClr val="2563EB"/>
                </a:solidFill>
                <a:latin typeface="Yu Gothic"/>
              </a:rPr>
              <a:t>リポジトリをクローン（or fork してpush）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317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280160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2E"/>
                </a:solidFill>
                <a:latin typeface="Yu Gothic"/>
              </a:rPr>
              <a:t>コピー済みハンズオン用リポジトリを手元に。今後を見据え「各自リポジトリを持つ」かはAIと相談。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5364327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499856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6B7280"/>
                </a:solidFill>
                <a:latin typeface="Yu Gothic"/>
              </a:rPr>
              <a:t>Claude Code レーン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26080"/>
            <a:ext cx="4907127" cy="3383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Yu Gothic"/>
              </a:rPr>
              <a:t>•  git clone でハンズオン用リポジトリを取得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Yu Gothic"/>
              </a:rPr>
              <a:t>•  .claude/ の agents・skills・rules・hooks を確認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Yu Gothic"/>
              </a:rPr>
              <a:t>•  worktreeで作業（git.md ルールに従う）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2148840"/>
            <a:ext cx="5364327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1607" y="2286000"/>
            <a:ext cx="499856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2563EB"/>
                </a:solidFill>
                <a:latin typeface="Yu Gothic"/>
              </a:rPr>
              <a:t>GitHub Copilot レーン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7327" y="2926080"/>
            <a:ext cx="4907127" cy="3383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Yu Gothic"/>
              </a:rPr>
              <a:t>•  fork → clone（自分のリポジトリで進める）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Yu Gothic"/>
              </a:rPr>
              <a:t>•  .github/ の instructions・agents・skills を確認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Yu Gothic"/>
              </a:rPr>
              <a:t>•  copilot-instructions.md で全体方針を把握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200" b="1">
                <a:solidFill>
                  <a:srgbClr val="2563EB"/>
                </a:solidFill>
                <a:latin typeface="Yu Gothic"/>
              </a:rPr>
              <a:t>課題整理エージェントで対話 → md化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317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280160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2E"/>
                </a:solidFill>
                <a:latin typeface="Yu Gothic"/>
              </a:rPr>
              <a:t>（今後作る）課題整理エージェントと対話し、自分の作業を skill/rule/agent/hook のベースとして md に起こす。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11094415" cy="779526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224028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48840"/>
            <a:ext cx="10088575" cy="7795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  <a:latin typeface="Yu Gothic"/>
              </a:rPr>
              <a:t>説明 — 選んだ作業をエージェントに話す</a:t>
            </a:r>
          </a:p>
        </p:txBody>
      </p:sp>
      <p:sp>
        <p:nvSpPr>
          <p:cNvPr id="9" name="Down Arrow 8"/>
          <p:cNvSpPr/>
          <p:nvPr/>
        </p:nvSpPr>
        <p:spPr>
          <a:xfrm>
            <a:off x="5912967" y="2946654"/>
            <a:ext cx="365760" cy="320040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3321558"/>
            <a:ext cx="11094415" cy="779526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8368" y="3412998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321558"/>
            <a:ext cx="10088575" cy="7795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  <a:latin typeface="Yu Gothic"/>
              </a:rPr>
              <a:t>深掘り — 手順・前提・禁止事項を質問で引き出す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912967" y="4119372"/>
            <a:ext cx="365760" cy="320040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4494276"/>
            <a:ext cx="11094415" cy="779526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8368" y="4585716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494276"/>
            <a:ext cx="10088575" cy="7795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  <a:latin typeface="Yu Gothic"/>
              </a:rPr>
              <a:t>分類 — skill/rule/agent/hook のどれかに割り振る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912967" y="5292090"/>
            <a:ext cx="365760" cy="320040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5666994"/>
            <a:ext cx="11094415" cy="779526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8368" y="5758434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666994"/>
            <a:ext cx="10088575" cy="7795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  <a:latin typeface="Yu Gothic"/>
              </a:rPr>
              <a:t>md化 — 各ベースを Markdown で出力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200" b="1">
                <a:solidFill>
                  <a:srgbClr val="2563EB"/>
                </a:solidFill>
                <a:latin typeface="Yu Gothic"/>
              </a:rPr>
              <a:t>AIですべて作成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317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280160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2E"/>
                </a:solidFill>
                <a:latin typeface="Yu Gothic"/>
              </a:rPr>
              <a:t>たたき台mdを渡し、AIに skill/rule/agent/hook の本体を一括生成させる。レーンで置き場所が変わるだけ。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5364327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499856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6B7280"/>
                </a:solidFill>
                <a:latin typeface="Yu Gothic"/>
              </a:rPr>
              <a:t>Claude Code が生成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26080"/>
            <a:ext cx="4907127" cy="3383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Yu Gothic"/>
              </a:rPr>
              <a:t>•  skills/&lt;name&gt;/SKILL.md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Yu Gothic"/>
              </a:rPr>
              <a:t>•  rules/&lt;topic&gt;.md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Yu Gothic"/>
              </a:rPr>
              <a:t>•  agents/&lt;role&gt;.md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Yu Gothic"/>
              </a:rPr>
              <a:t>•  hooks/*.sh + settings.json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2148840"/>
            <a:ext cx="5364327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1607" y="2286000"/>
            <a:ext cx="499856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2563EB"/>
                </a:solidFill>
                <a:latin typeface="Yu Gothic"/>
              </a:rPr>
              <a:t>GitHub Copilot が生成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7327" y="2926080"/>
            <a:ext cx="4907127" cy="3383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Yu Gothic"/>
              </a:rPr>
              <a:t>•  skills/&lt;name&gt;/（ミラー）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Yu Gothic"/>
              </a:rPr>
              <a:t>•  instructions/&lt;topic&gt;.instructions.md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Yu Gothic"/>
              </a:rPr>
              <a:t>•  agents/&lt;role&gt;.agent.md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Yu Gothic"/>
              </a:rPr>
              <a:t>•  copilot-instructions.md 追記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200" b="1">
                <a:solidFill>
                  <a:srgbClr val="2563EB"/>
                </a:solidFill>
                <a:latin typeface="Yu Gothic"/>
              </a:rPr>
              <a:t>デモを実行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317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280160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2E"/>
                </a:solidFill>
                <a:latin typeface="Yu Gothic"/>
              </a:rPr>
              <a:t>作った仕組みを実際に動かす。狙った作業がAIで完遂できるかを、その場で確かめる。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11094415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2400" b="0">
                <a:solidFill>
                  <a:srgbClr val="1A1A2E"/>
                </a:solidFill>
                <a:latin typeface="Yu Gothic"/>
              </a:rPr>
              <a:t>•  生成したスキル/エージェントを実際に起動して作業させる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2400" b="0">
                <a:solidFill>
                  <a:srgbClr val="1A1A2E"/>
                </a:solidFill>
                <a:latin typeface="Yu Gothic"/>
              </a:rPr>
              <a:t>•  Hook が意図通りに危険操作をブロックするか確認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2400" b="0">
                <a:solidFill>
                  <a:srgbClr val="1A1A2E"/>
                </a:solidFill>
                <a:latin typeface="Yu Gothic"/>
              </a:rPr>
              <a:t>•  Rule が守られているか（mainで作業していない等）を確認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2400" b="0">
                <a:solidFill>
                  <a:srgbClr val="1A1A2E"/>
                </a:solidFill>
                <a:latin typeface="Yu Gothic"/>
              </a:rPr>
              <a:t>•  うまくいった点・崩れた点をメモ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200" b="1">
                <a:solidFill>
                  <a:srgbClr val="2563EB"/>
                </a:solidFill>
                <a:latin typeface="Yu Gothic"/>
              </a:rPr>
              <a:t>改善点を洗い出して issue 起票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317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280160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2E"/>
                </a:solidFill>
                <a:latin typeface="Yu Gothic"/>
              </a:rPr>
              <a:t>デモで見えた粗さを issue にする。これが次の一周の入力になり、精度が上がっていく。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11094415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2400" b="0">
                <a:solidFill>
                  <a:srgbClr val="1A1A2E"/>
                </a:solidFill>
                <a:latin typeface="Yu Gothic"/>
              </a:rPr>
              <a:t>•  デモで崩れた点・あと一歩だった点を具体的に書き出す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2400" b="0">
                <a:solidFill>
                  <a:srgbClr val="1A1A2E"/>
                </a:solidFill>
                <a:latin typeface="Yu Gothic"/>
              </a:rPr>
              <a:t>•  create-issue スキル / gh issue create でテンプレ起票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2400" b="0">
                <a:solidFill>
                  <a:srgbClr val="1A1A2E"/>
                </a:solidFill>
                <a:latin typeface="Yu Gothic"/>
              </a:rPr>
              <a:t>•  issueが次の「課題整理（実践3）」の入力になる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2400" b="0">
                <a:solidFill>
                  <a:srgbClr val="1A1A2E"/>
                </a:solidFill>
                <a:latin typeface="Yu Gothic"/>
              </a:rPr>
              <a:t>•  → 3〜6が閉じて、loopが回り始める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200" b="1">
                <a:solidFill>
                  <a:srgbClr val="2563EB"/>
                </a:solidFill>
                <a:latin typeface="Yu Gothic"/>
              </a:rPr>
              <a:t>3→6のloopが、ゴール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317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280160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2E"/>
                </a:solidFill>
                <a:latin typeface="Yu Gothic"/>
              </a:rPr>
              <a:t>課題整理→生成→デモ→改善issueを繰り返すほど、精度の高い充実した資産になる。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200400"/>
            <a:ext cx="2362123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329184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217924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Yu Gothic"/>
              </a:rPr>
              <a:t>③課題整理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251960"/>
            <a:ext cx="2087803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  <a:latin typeface="Yu Gothic"/>
              </a:rPr>
              <a:t>対話でまとめる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956483" y="4114800"/>
            <a:ext cx="457200" cy="36576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59403" y="3200400"/>
            <a:ext cx="2362123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69131" y="329184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0843" y="3611880"/>
            <a:ext cx="217924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Yu Gothic"/>
              </a:rPr>
              <a:t>④AI生成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6563" y="4251960"/>
            <a:ext cx="2087803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  <a:latin typeface="Yu Gothic"/>
              </a:rPr>
              <a:t>一括で作る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867246" y="4114800"/>
            <a:ext cx="457200" cy="36576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70166" y="3200400"/>
            <a:ext cx="2362123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79894" y="329184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1606" y="3611880"/>
            <a:ext cx="217924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Yu Gothic"/>
              </a:rPr>
              <a:t>⑤デモ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326" y="4251960"/>
            <a:ext cx="2087803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  <a:latin typeface="Yu Gothic"/>
              </a:rPr>
              <a:t>動かして確かめる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78009" y="4114800"/>
            <a:ext cx="457200" cy="36576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280929" y="3200400"/>
            <a:ext cx="2362123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390657" y="329184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369" y="3611880"/>
            <a:ext cx="217924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Yu Gothic"/>
              </a:rPr>
              <a:t>⑥改善issue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089" y="4251960"/>
            <a:ext cx="2087803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  <a:latin typeface="Yu Gothic"/>
              </a:rPr>
              <a:t>次の一周へ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200" b="1">
                <a:solidFill>
                  <a:srgbClr val="2563EB"/>
                </a:solidFill>
                <a:latin typeface="Yu Gothic"/>
              </a:rPr>
              <a:t>loopを“書ける”ようになる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317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280160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2E"/>
                </a:solidFill>
                <a:latin typeface="Yu Gothic"/>
              </a:rPr>
              <a:t>このloopを設計できたら、それは“loopプロンプト”が書けるということ。フェーズ3「loopを書く」の入り口。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11094415" cy="429768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9997135" cy="4297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Yu Gothic"/>
              </a:rPr>
              <a:t>loopを設計できたら、晴れて“loopプロンプト”が書ける。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