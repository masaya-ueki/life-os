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164592" cy="68580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914400" y="3703320"/>
            <a:ext cx="10362895" cy="0"/>
          </a:xfrm>
          <a:prstGeom prst="line">
            <a:avLst/>
          </a:prstGeom>
          <a:ln w="38100">
            <a:solidFill>
              <a:srgbClr val="2563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1097280" y="1828800"/>
            <a:ext cx="10362895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800" b="1">
                <a:solidFill>
                  <a:srgbClr val="2563EB"/>
                </a:solidFill>
                <a:latin typeface="Yu Gothic"/>
              </a:rPr>
              <a:t>AI駆動で、業務をやる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794760"/>
            <a:ext cx="103628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2E"/>
                </a:solidFill>
                <a:latin typeface="Yu Gothic"/>
              </a:rPr>
              <a:t>目指すのはAI駆動“開発”にとどまらない。あらゆる業務をAIに委譲する「AI駆動チーム」への一歩を、手を動かして掴む。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800600"/>
            <a:ext cx="99056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667085"/>
                </a:solidFill>
                <a:latin typeface="Yu Gothic"/>
              </a:rPr>
              <a:t>· テーマ: AI駆動開発ハンズオン＆講座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667085"/>
                </a:solidFill>
                <a:latin typeface="Yu Gothic"/>
              </a:rPr>
              <a:t>· 対象: ClaudeCode / GitHub Copilot 利用者（Microsoft Copilot 利用者は座学パートまで）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667085"/>
                </a:solidFill>
                <a:latin typeface="Yu Gothic"/>
              </a:rPr>
              <a:t>· ゴール: 「課題整理 → AI生成 → デモ → 改善issue」のloopを一周回す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6172200"/>
            <a:ext cx="10362895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400" b="0">
                <a:solidFill>
                  <a:srgbClr val="667085"/>
                </a:solidFill>
                <a:latin typeface="Yu Gothic"/>
              </a:rPr>
              <a:t>2026-06-23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本日の目的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AIで業務をする。開発に閉じず、繰り返し作業はAIへ。自分はAIを含む作業フローの“一部”になる。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11074095" cy="4318000"/>
          </a:xfrm>
          <a:prstGeom prst="roundRect">
            <a:avLst>
              <a:gd name="adj" fmla="val 2964"/>
            </a:avLst>
          </a:prstGeom>
          <a:gradFill rotWithShape="1">
            <a:gsLst>
              <a:gs pos="0">
                <a:srgbClr val="2563EB"/>
              </a:gs>
              <a:gs pos="100000">
                <a:srgbClr val="7E57C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7440" y="2133600"/>
            <a:ext cx="9976815" cy="431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Yu Gothic"/>
              </a:rPr>
              <a:t>自分は、AIを含む作業フローの“一部”である。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対象者と3つのレーン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使えるAIツールで到達点が変わる。座学は全員共通、実践はコーディングエージェント保有者が手を動かす。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8800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9968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67085"/>
                </a:solidFill>
                <a:latin typeface="Yu Gothic"/>
              </a:rPr>
              <a:t>座学編（全員共通）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5688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AI駆動開発の方向性と思想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効率化の仕組み: Agent/Skill/Rule/Hook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コーディングエージェントが最強の基盤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9047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9047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215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563EB"/>
                </a:solidFill>
                <a:latin typeface="Yu Gothic"/>
              </a:rPr>
              <a:t>実践編（Claude Code / Copilot）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5935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課題整理 → AIで一括生成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デモ実行 → 改善issue起票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loopを一周回す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本日のアジェンダ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座学で“なぜ・何を”を揃え、実践で“どうやって”を一周する。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2133600"/>
            <a:ext cx="11074095" cy="4318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座学1-2: AI駆動開発のこれからと、働き方の変遷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座学3: 「3回やったらAI化」— 繰り返し作業の棚卸し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座学4-5: 仕組み（4点セット）・業務のloopの作り方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実践1-6: 棚卸し → リポジトリ用意 → 課題整理エージェント → AI生成 → デモ → 改善issue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AI駆動開発のこれから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「AI導入の検証」段階は終わり、「AIに仕事を任せる」段階へ。対象は開発から全業務に広がる。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2133600"/>
            <a:ext cx="11074095" cy="4318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AIに手伝ってもらい人がタスクを完遂する → AIが“やりたいこと（業務フロー全体）を完遂”する時代へ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適用範囲がすべての業務（調査・資料作成・運用・定型業務）へ拡大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人の役割は「実作業者」から「AIに任せる設計者・レビュアー」へシフト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勝ち筋は“業務の仕組み化”: 業務をひとつずつAI化し、繰り返し効く資産を積む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AI利用の変遷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手書き → 補完 → エージェント駆動 → loop駆動。人の関与は“手を動かす人”から“流れを設計する人”へ移る。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400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400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手書き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人が全部やる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9023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67023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68623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623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補完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423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AIが部分提案・人が主役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7246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5246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6846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46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エージェント駆動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7646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AIがタスクを実行・人はレビュー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75469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3469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85069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5069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loop駆動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5869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AIが輪を回す・人は輪を設計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3回やったら、AI化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同じ作業を3回以上やったら、それはAIに渡す合図。手作業の棚卸しから始まる。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11074095" cy="4318000"/>
          </a:xfrm>
          <a:prstGeom prst="roundRect">
            <a:avLst>
              <a:gd name="adj" fmla="val 2964"/>
            </a:avLst>
          </a:prstGeom>
          <a:gradFill rotWithShape="1">
            <a:gsLst>
              <a:gs pos="0">
                <a:srgbClr val="2563EB"/>
              </a:gs>
              <a:gs pos="100000">
                <a:srgbClr val="7E57C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7440" y="2133600"/>
            <a:ext cx="9976815" cy="431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Yu Gothic"/>
              </a:rPr>
              <a:t>同じ作業を3回やったら、AI化しよう。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自分は、作業フローの一部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ほぼすべての作業はAIで自動化できる。ただしskill・agentの積み上げがあって初めて成立する。</a:t>
            </a:r>
          </a:p>
        </p:txBody>
      </p:sp>
      <p:sp>
        <p:nvSpPr>
          <p:cNvPr id="6" name="Freeform 5"/>
          <p:cNvSpPr/>
          <p:nvPr/>
        </p:nvSpPr>
        <p:spPr>
          <a:xfrm>
            <a:off x="4337021" y="2133600"/>
            <a:ext cx="3517652" cy="1371600"/>
          </a:xfrm>
          <a:custGeom>
            <a:avLst/>
            <a:gdLst/>
            <a:ahLst/>
            <a:cxnLst/>
            <a:rect l="l" t="t" r="r" b="b"/>
            <a:pathLst>
              <a:path w="3517652" h="1371600">
                <a:moveTo>
                  <a:pt x="1758826" y="0"/>
                </a:moveTo>
                <a:lnTo>
                  <a:pt x="1758826" y="0"/>
                </a:lnTo>
                <a:lnTo>
                  <a:pt x="3517652" y="1371600"/>
                </a:lnTo>
                <a:lnTo>
                  <a:pt x="0" y="1371600"/>
                </a:lnTo>
                <a:close/>
              </a:path>
            </a:pathLst>
          </a:cu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設計・レビュー</a:t>
            </a:r>
          </a:p>
        </p:txBody>
      </p:sp>
      <p:sp>
        <p:nvSpPr>
          <p:cNvPr id="7" name="Freeform 6"/>
          <p:cNvSpPr/>
          <p:nvPr/>
        </p:nvSpPr>
        <p:spPr>
          <a:xfrm>
            <a:off x="2447911" y="3606800"/>
            <a:ext cx="7295872" cy="1371600"/>
          </a:xfrm>
          <a:custGeom>
            <a:avLst/>
            <a:gdLst/>
            <a:ahLst/>
            <a:cxnLst/>
            <a:rect l="l" t="t" r="r" b="b"/>
            <a:pathLst>
              <a:path w="7295872" h="1371600">
                <a:moveTo>
                  <a:pt x="1758826" y="0"/>
                </a:moveTo>
                <a:lnTo>
                  <a:pt x="5537046" y="0"/>
                </a:lnTo>
                <a:lnTo>
                  <a:pt x="7295872" y="1371600"/>
                </a:lnTo>
                <a:lnTo>
                  <a:pt x="0" y="1371600"/>
                </a:lnTo>
                <a:close/>
              </a:path>
            </a:pathLst>
          </a:custGeom>
          <a:solidFill>
            <a:srgbClr val="7E57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中: エージェントが業務タスクを自律実行</a:t>
            </a:r>
          </a:p>
        </p:txBody>
      </p:sp>
      <p:sp>
        <p:nvSpPr>
          <p:cNvPr id="8" name="Freeform 7"/>
          <p:cNvSpPr/>
          <p:nvPr/>
        </p:nvSpPr>
        <p:spPr>
          <a:xfrm>
            <a:off x="558800" y="5080000"/>
            <a:ext cx="11074094" cy="1371600"/>
          </a:xfrm>
          <a:custGeom>
            <a:avLst/>
            <a:gdLst/>
            <a:ahLst/>
            <a:cxnLst/>
            <a:rect l="l" t="t" r="r" b="b"/>
            <a:pathLst>
              <a:path w="11074094" h="1371600">
                <a:moveTo>
                  <a:pt x="1758827" y="0"/>
                </a:moveTo>
                <a:lnTo>
                  <a:pt x="9315267" y="0"/>
                </a:lnTo>
                <a:lnTo>
                  <a:pt x="11074094" y="1371600"/>
                </a:lnTo>
                <a:lnTo>
                  <a:pt x="0" y="1371600"/>
                </a:lnTo>
                <a:close/>
              </a:path>
            </a:pathLst>
          </a:cu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土台: 全員がrule/skill/agentを積み上げる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効率化の仕組み = ディレクトリ構成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AIを効率的に使う鍵は、リポジトリ直下に置く“4点セット”。Agent / Skill / Rule / Hook。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75607" y="2133600"/>
            <a:ext cx="3840480" cy="685800"/>
          </a:xfrm>
          <a:prstGeom prst="roundRect">
            <a:avLst>
              <a:gd name="adj" fmla="val 18666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.claude/（AIの設定一式）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58800" y="3596640"/>
            <a:ext cx="2616123" cy="2854960"/>
          </a:xfrm>
          <a:prstGeom prst="roundRect">
            <a:avLst>
              <a:gd name="adj" fmla="val 4893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2E"/>
                </a:solidFill>
                <a:latin typeface="Yu Gothic"/>
              </a:rPr>
              <a:t>agents/</a:t>
            </a:r>
          </a:p>
          <a:p>
            <a:pPr algn="ctr"/>
            <a:r>
              <a:rPr sz="1400">
                <a:solidFill>
                  <a:srgbClr val="667085"/>
                </a:solidFill>
                <a:latin typeface="Yu Gothic"/>
              </a:rPr>
              <a:t>・役割特化エージェント（designer/executor/reviewer）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66861" y="3203448"/>
            <a:ext cx="0" cy="393192"/>
          </a:xfrm>
          <a:prstGeom prst="line">
            <a:avLst/>
          </a:prstGeom>
          <a:ln w="19050">
            <a:solidFill>
              <a:srgbClr val="6670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78123" y="3596640"/>
            <a:ext cx="2616123" cy="2854960"/>
          </a:xfrm>
          <a:prstGeom prst="roundRect">
            <a:avLst>
              <a:gd name="adj" fmla="val 4893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2E"/>
                </a:solidFill>
                <a:latin typeface="Yu Gothic"/>
              </a:rPr>
              <a:t>skills/</a:t>
            </a:r>
          </a:p>
          <a:p>
            <a:pPr algn="ctr"/>
            <a:r>
              <a:rPr sz="1400">
                <a:solidFill>
                  <a:srgbClr val="667085"/>
                </a:solidFill>
                <a:latin typeface="Yu Gothic"/>
              </a:rPr>
              <a:t>・再利用ワークフロー（SKILL.md）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686184" y="3203448"/>
            <a:ext cx="0" cy="393192"/>
          </a:xfrm>
          <a:prstGeom prst="line">
            <a:avLst/>
          </a:prstGeom>
          <a:ln w="19050">
            <a:solidFill>
              <a:srgbClr val="6670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197446" y="3596640"/>
            <a:ext cx="2616123" cy="2854960"/>
          </a:xfrm>
          <a:prstGeom prst="roundRect">
            <a:avLst>
              <a:gd name="adj" fmla="val 4893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2E"/>
                </a:solidFill>
                <a:latin typeface="Yu Gothic"/>
              </a:rPr>
              <a:t>rules/</a:t>
            </a:r>
          </a:p>
          <a:p>
            <a:pPr algn="ctr"/>
            <a:r>
              <a:rPr sz="1400">
                <a:solidFill>
                  <a:srgbClr val="667085"/>
                </a:solidFill>
                <a:latin typeface="Yu Gothic"/>
              </a:rPr>
              <a:t>・常時適用ルール（git.md / security.md）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505507" y="3203448"/>
            <a:ext cx="0" cy="393192"/>
          </a:xfrm>
          <a:prstGeom prst="line">
            <a:avLst/>
          </a:prstGeom>
          <a:ln w="19050">
            <a:solidFill>
              <a:srgbClr val="6670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016769" y="3596640"/>
            <a:ext cx="2616123" cy="2854960"/>
          </a:xfrm>
          <a:prstGeom prst="roundRect">
            <a:avLst>
              <a:gd name="adj" fmla="val 4893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A1A2E"/>
                </a:solidFill>
                <a:latin typeface="Yu Gothic"/>
              </a:rPr>
              <a:t>hooks/ + settings.json</a:t>
            </a:r>
          </a:p>
          <a:p>
            <a:pPr algn="ctr"/>
            <a:r>
              <a:rPr sz="1400">
                <a:solidFill>
                  <a:srgbClr val="667085"/>
                </a:solidFill>
                <a:latin typeface="Yu Gothic"/>
              </a:rPr>
              <a:t>・自動ブロック・自動整形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324830" y="3203448"/>
            <a:ext cx="0" cy="393192"/>
          </a:xfrm>
          <a:prstGeom prst="line">
            <a:avLst/>
          </a:prstGeom>
          <a:ln w="19050">
            <a:solidFill>
              <a:srgbClr val="6670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095847" y="2819400"/>
            <a:ext cx="0" cy="384048"/>
          </a:xfrm>
          <a:prstGeom prst="line">
            <a:avLst/>
          </a:prstGeom>
          <a:ln w="19050">
            <a:solidFill>
              <a:srgbClr val="6670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866861" y="3203448"/>
            <a:ext cx="8457969" cy="0"/>
          </a:xfrm>
          <a:prstGeom prst="line">
            <a:avLst/>
          </a:prstGeom>
          <a:ln w="19050">
            <a:solidFill>
              <a:srgbClr val="66708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4点セットの役割と実例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それぞれが「いつ効くか」を実物で押さえる。組み合わせでAIの精度と安全性が決まる。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8800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9968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67085"/>
                </a:solidFill>
                <a:latin typeface="Yu Gothic"/>
              </a:rPr>
              <a:t>守るべきルール・仕組み（Rule / Hook）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5688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Rule: タスクのフォーマット遵守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Hook: 危険操作・秘密情報の流出を自動ブロック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Hook: .env書き込み・意図しない変更を検出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9047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9047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215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563EB"/>
                </a:solidFill>
                <a:latin typeface="Yu Gothic"/>
              </a:rPr>
              <a:t>人間のやっていたことの代わり（Agent / Skill）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5935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Agent: タスク作成/スライド作成/レビューを分業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Skill: 定例報告・資料作成・調査等の定型手順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業務をloopにする、考え方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ツールを作るだけでなく「繰り返し回る仕組み」にすることが目標。課題整理→生成→デモ→改善issueが1ループ、毎周ごとに精度が上がる。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400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400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課題整理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対話でまとめる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9023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67023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68623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623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AI生成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423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skill/agent を作る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7246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5246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6846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46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デモ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7646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実際に動かす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75469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3469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85069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5069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改善issue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5869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次の一周へ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具体例: 週次報告をloop化する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手動で毎週やっていた進捗報告を例に、課題整理→生成→デモ→改善issueのloopを一周辿る。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400" y="223520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1760" y="213360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課題整理 — 毎週の手作業を整理・分類する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12967" y="2960370"/>
            <a:ext cx="365760" cy="32004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8800" y="330581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340741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1760" y="330581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生成 — commit-report スキルをAIが生成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12967" y="4132580"/>
            <a:ext cx="365760" cy="32004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8800" y="447802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0400" y="45796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1760" y="447802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デモ — /commit-report を実行、動作確認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12967" y="5304790"/>
            <a:ext cx="365760" cy="32004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8800" y="565023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0400" y="575183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1760" y="565023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改善issue — 残課題を起票して次のloopへ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実践編の進め方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3〜6（課題整理→生成→デモ→改善issue）を一周できたらゴール。レーンごとに使うツールが違うだけ。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400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400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課題整理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対話でまとめる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9023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67023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68623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623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AI生成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423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skill/rule/agent/hook を作る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7246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5246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6846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46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デモ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7646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実際に動かす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75469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3469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85069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5069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改善issue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5869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次の一周へ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複数回やっている作業・課題を書き出す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loopの燃料は“自分の繰り返し作業”。まず手で書き出して、AI化候補を見つける。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2133600"/>
            <a:ext cx="11074095" cy="4318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35000"/>
              </a:lnSpc>
              <a:spcAft>
                <a:spcPts val="10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直近で3回以上やった作業をリストアップ</a:t>
            </a:r>
          </a:p>
          <a:p>
            <a:pPr marL="251460" indent="-251460">
              <a:lnSpc>
                <a:spcPct val="135000"/>
              </a:lnSpc>
              <a:spcAft>
                <a:spcPts val="10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各作業の「手順・入力・出力・つまずき」を一言で添える</a:t>
            </a:r>
          </a:p>
          <a:p>
            <a:pPr marL="251460" indent="-251460">
              <a:lnSpc>
                <a:spcPct val="135000"/>
              </a:lnSpc>
              <a:spcAft>
                <a:spcPts val="10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“面倒・毎回ググる・コピペ”が多いものほど良い候補</a:t>
            </a:r>
          </a:p>
          <a:p>
            <a:pPr marL="251460" indent="-251460">
              <a:lnSpc>
                <a:spcPct val="135000"/>
              </a:lnSpc>
              <a:spcAft>
                <a:spcPts val="10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1つ選ぶ — 本日はこれをAI化する</a:t>
            </a:r>
          </a:p>
          <a:p>
            <a:pPr marL="251460" indent="-251460">
              <a:lnSpc>
                <a:spcPct val="135000"/>
              </a:lnSpc>
              <a:spcAft>
                <a:spcPts val="10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例: 日々の進捗報告・疑問点の整理・定例資料の作成・調査まとめ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リポジトリをクローン（or fork してpush）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コピー済みハンズオン用リポジトリを手元に。今後を見据え「各自リポジトリを持つ」かはAIと相談。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8800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9968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67085"/>
                </a:solidFill>
                <a:latin typeface="Yu Gothic"/>
              </a:rPr>
              <a:t>Claude Code レーン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5688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git clone でハンズオン用リポジトリを取得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.claude/ の agents・skills・rules・hooks を確認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worktreeで作業（git.md ルールに従う）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9047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9047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215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563EB"/>
                </a:solidFill>
                <a:latin typeface="Yu Gothic"/>
              </a:rPr>
              <a:t>GitHub Copilot レーン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5935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fork → clone（自分のリポジトリで進める）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.github/ の instructions・agents・skills を確認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copilot-instructions.md で全体方針を把握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課題整理エージェントで対話 → md化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課題整理エージェントと対話し、自分の作業を skill/rule/agent/hook のベースとして md に起こす。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400" y="223520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1760" y="213360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説明 — 選んだ作業をエージェントに話す</a:t>
            </a:r>
          </a:p>
        </p:txBody>
      </p:sp>
      <p:sp>
        <p:nvSpPr>
          <p:cNvPr id="9" name="Down Arrow 8"/>
          <p:cNvSpPr/>
          <p:nvPr/>
        </p:nvSpPr>
        <p:spPr>
          <a:xfrm>
            <a:off x="5912967" y="2960370"/>
            <a:ext cx="365760" cy="32004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58800" y="330581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0400" y="340741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1760" y="330581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深掘り — 手順・前提・禁止事項を質問で引き出す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12967" y="4132580"/>
            <a:ext cx="365760" cy="32004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58800" y="447802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0400" y="45796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1760" y="447802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分類 — skill/rule/agent/hook のどれかに割り振る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5912967" y="5304790"/>
            <a:ext cx="365760" cy="320040"/>
          </a:xfrm>
          <a:prstGeom prst="down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58800" y="5650230"/>
            <a:ext cx="11074095" cy="801370"/>
          </a:xfrm>
          <a:prstGeom prst="roundRect">
            <a:avLst>
              <a:gd name="adj" fmla="val 15974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60400" y="575183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81760" y="5650230"/>
            <a:ext cx="10068255" cy="8013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0">
                <a:solidFill>
                  <a:srgbClr val="1A1A2E"/>
                </a:solidFill>
                <a:latin typeface="Yu Gothic"/>
              </a:rPr>
              <a:t>md化 — 各ベースを Markdown で出力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AIですべて作成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たたき台mdを渡し、AIに skill/rule/agent/hook の本体を一括生成させる。レーンで置き場所が変わるだけ。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58800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9968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667085"/>
                </a:solidFill>
                <a:latin typeface="Yu Gothic"/>
              </a:rPr>
              <a:t>Claude Code が生成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5688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skills/&lt;name&gt;/SKILL.md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rules/&lt;topic&gt;.md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agents/&lt;role&gt;.md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hooks/*.sh + settings.json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99047" y="2133600"/>
            <a:ext cx="5333847" cy="4318000"/>
          </a:xfrm>
          <a:prstGeom prst="roundRect">
            <a:avLst>
              <a:gd name="adj" fmla="val 2964"/>
            </a:avLst>
          </a:prstGeom>
          <a:solidFill>
            <a:srgbClr val="F0F4FF"/>
          </a:solidFill>
          <a:ln w="12700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99047" y="2261616"/>
            <a:ext cx="64008" cy="406196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00215" y="2270760"/>
            <a:ext cx="498637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2563EB"/>
                </a:solidFill>
                <a:latin typeface="Yu Gothic"/>
              </a:rPr>
              <a:t>GitHub Copilot が生成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45935" y="2910840"/>
            <a:ext cx="4858359" cy="3403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skills/&lt;name&gt;/（ミラー）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instructions/&lt;topic&gt;.instructions.md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agents/&lt;role&gt;.agent.md</a:t>
            </a:r>
          </a:p>
          <a:p>
            <a:pPr marL="251460" indent="-251460">
              <a:lnSpc>
                <a:spcPct val="125000"/>
              </a:lnSpc>
              <a:spcAft>
                <a:spcPts val="600"/>
              </a:spcAft>
            </a:pPr>
            <a:r>
              <a:rPr sz="1800" b="0">
                <a:solidFill>
                  <a:srgbClr val="1A1A2E"/>
                </a:solidFill>
                <a:latin typeface="Yu Gothic"/>
              </a:rPr>
              <a:t>•  copilot-instructions.md 追記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デモを実行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作った仕組みを実際に動かす。狙った業務がAIで完遂できるかを、その場で確かめる。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2133600"/>
            <a:ext cx="11074095" cy="4318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生成したスキル/エージェントを実際に起動して作業させる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Hook が意図通りに危険操作をブロックするか確認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Rule が守られているか（作業フローが崩れていないか等）を確認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うまくいった点・崩れた点をメモ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改善点を洗い出して issue 起票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デモで見えた粗さを issue にする。これが次の一周の入力になり、loopが精度を上げていく。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8800" y="2133600"/>
            <a:ext cx="11074095" cy="4318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デモで崩れた点・あと一歩だった点を具体的に書き出す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create-issue スキル / gh issue create でテンプレ起票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issueが次の「課題整理（実践3）」の入力になる</a:t>
            </a:r>
          </a:p>
          <a:p>
            <a:pPr marL="307340" indent="-307340">
              <a:lnSpc>
                <a:spcPct val="135000"/>
              </a:lnSpc>
              <a:spcAft>
                <a:spcPts val="1000"/>
              </a:spcAft>
            </a:pPr>
            <a:r>
              <a:rPr sz="2200" b="0">
                <a:solidFill>
                  <a:srgbClr val="1A1A2E"/>
                </a:solidFill>
                <a:latin typeface="Yu Gothic"/>
              </a:rPr>
              <a:t>•  → 3〜6が閉じて、loopが回り始める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loopで業務が回る、がゴール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課題整理→生成→デモ→改善issueを繰り返すほど、skill・agentが充実しloopで業務が回り始める。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660400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400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③課題整理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対話でまとめる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9023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67023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3568623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8623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④AI生成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19423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一括で作る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867246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375246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76846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76846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⑤デモ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27646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動かして確かめる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775469" y="4109720"/>
            <a:ext cx="457200" cy="365760"/>
          </a:xfrm>
          <a:prstGeom prst="rightArrow">
            <a:avLst/>
          </a:prstGeom>
          <a:solidFill>
            <a:srgbClr val="6670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283469" y="3195320"/>
            <a:ext cx="2349423" cy="2194560"/>
          </a:xfrm>
          <a:prstGeom prst="roundRect">
            <a:avLst>
              <a:gd name="adj" fmla="val 5833"/>
            </a:avLst>
          </a:prstGeom>
          <a:solidFill>
            <a:srgbClr val="F0F4FF"/>
          </a:solidFill>
          <a:ln w="1905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85069" y="3296920"/>
            <a:ext cx="411480" cy="41148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600" b="1">
                <a:solidFill>
                  <a:srgbClr val="FFFFFF"/>
                </a:solidFill>
                <a:latin typeface="Yu 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85069" y="3743960"/>
            <a:ext cx="2146223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2563EB"/>
                </a:solidFill>
                <a:latin typeface="Yu Gothic"/>
              </a:rPr>
              <a:t>⑥改善issue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35869" y="4384040"/>
            <a:ext cx="2044623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1A1A2E"/>
                </a:solidFill>
                <a:latin typeface="Yu Gothic"/>
              </a:rPr>
              <a:t>次の一周へ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全員がskill・agentを作る、当たり前へ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skill・agentを作ることが“当たり前”になったとき、全員の業務がloopで回り始める。それがAI駆動チームのゴール。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11074095" cy="4318000"/>
          </a:xfrm>
          <a:prstGeom prst="roundRect">
            <a:avLst>
              <a:gd name="adj" fmla="val 2964"/>
            </a:avLst>
          </a:prstGeom>
          <a:gradFill rotWithShape="1">
            <a:gsLst>
              <a:gs pos="0">
                <a:srgbClr val="2563EB"/>
              </a:gs>
              <a:gs pos="100000">
                <a:srgbClr val="7E57C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7440" y="2133600"/>
            <a:ext cx="9976815" cy="431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Yu Gothic"/>
              </a:rPr>
              <a:t>業務がloopで回る。それが、AI駆動チームの最終ゴール。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コーディングエージェントが、最強の基盤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558800" y="1320800"/>
            <a:ext cx="11074095" cy="711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2E"/>
                </a:solidFill>
                <a:latin typeface="Yu Gothic"/>
              </a:rPr>
              <a:t>ほとんどの業務は“ファイルとコマンド”に落ちる。それを扱えるコーディングエージェントは、全業務で最も適用範囲が広い。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8800" y="2133600"/>
            <a:ext cx="11074095" cy="4318000"/>
          </a:xfrm>
          <a:prstGeom prst="roundRect">
            <a:avLst>
              <a:gd name="adj" fmla="val 2964"/>
            </a:avLst>
          </a:prstGeom>
          <a:gradFill rotWithShape="1">
            <a:gsLst>
              <a:gs pos="0">
                <a:srgbClr val="2563EB"/>
              </a:gs>
              <a:gs pos="100000">
                <a:srgbClr val="7E57C2"/>
              </a:gs>
            </a:gsLst>
            <a:lin scaled="0" ang="135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7440" y="2133600"/>
            <a:ext cx="9976815" cy="431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Yu Gothic"/>
              </a:rPr>
              <a:t>“エンジニアは、コードを1行ずつ書く個人ではなく『エージェントのテックリード』として考えるべきだ。”</a:t>
            </a:r>
          </a:p>
          <a:p>
            <a:pPr algn="ctr"/>
            <a:r>
              <a:rPr sz="2200" b="0">
                <a:solidFill>
                  <a:srgbClr val="FFFFFF"/>
                </a:solidFill>
                <a:latin typeface="Yu Gothic"/>
              </a:rPr>
              <a:t>— Sridhar Ramaswamy（Snowflake CEO）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Redmine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58800" y="406400"/>
            <a:ext cx="11074095" cy="81280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3600" b="1">
                <a:solidFill>
                  <a:srgbClr val="2563EB"/>
                </a:solidFill>
                <a:latin typeface="Yu Gothic"/>
              </a:rPr>
              <a:t>Backlog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58800" y="1219200"/>
            <a:ext cx="11074095" cy="0"/>
          </a:xfrm>
          <a:prstGeom prst="line">
            <a:avLst/>
          </a:prstGeom>
          <a:ln w="31750">
            <a:solidFill>
              <a:srgbClr val="E5E7E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